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69c37210c4c7a" /><Relationship Type="http://schemas.openxmlformats.org/officeDocument/2006/relationships/extended-properties" Target="/docProps/app.xml" Id="R40fe03eddc924d82" /><Relationship Type="http://schemas.openxmlformats.org/officeDocument/2006/relationships/officeDocument" Target="/ppt/presentation.xml" Id="R248185f1019341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fab60e59d9487c"/>
  </p:sldMasterIdLst>
  <p:notesMasterIdLst>
    <p:notesMasterId xmlns:r="http://schemas.openxmlformats.org/officeDocument/2006/relationships" r:id="Raa464f37c9404962"/>
  </p:notesMasterIdLst>
  <p:sldIdLst>
    <p:sldId xmlns:r="http://schemas.openxmlformats.org/officeDocument/2006/relationships" id="256" r:id="R64086cebe8624606"/>
    <p:sldId xmlns:r="http://schemas.openxmlformats.org/officeDocument/2006/relationships" id="257" r:id="R9f4863564c5c4de9"/>
    <p:sldId xmlns:r="http://schemas.openxmlformats.org/officeDocument/2006/relationships" id="258" r:id="Ra57202552a3441d9"/>
    <p:sldId xmlns:r="http://schemas.openxmlformats.org/officeDocument/2006/relationships" id="259" r:id="R1d828c35ad61441f"/>
    <p:sldId xmlns:r="http://schemas.openxmlformats.org/officeDocument/2006/relationships" id="260" r:id="R9189ae17fe624975"/>
    <p:sldId xmlns:r="http://schemas.openxmlformats.org/officeDocument/2006/relationships" id="261" r:id="Rd91c20716b0b4164"/>
    <p:sldId xmlns:r="http://schemas.openxmlformats.org/officeDocument/2006/relationships" id="262" r:id="R33dbce6616f34ba0"/>
    <p:sldId xmlns:r="http://schemas.openxmlformats.org/officeDocument/2006/relationships" id="263" r:id="R614b8fbdbb9f4587"/>
    <p:sldId xmlns:r="http://schemas.openxmlformats.org/officeDocument/2006/relationships" id="264" r:id="R43f7875ce38c4fad"/>
    <p:sldId xmlns:r="http://schemas.openxmlformats.org/officeDocument/2006/relationships" id="265" r:id="R687ad808baba4013"/>
    <p:sldId xmlns:r="http://schemas.openxmlformats.org/officeDocument/2006/relationships" id="266" r:id="R046d757c369448c7"/>
    <p:sldId xmlns:r="http://schemas.openxmlformats.org/officeDocument/2006/relationships" id="267" r:id="Rd765c6dd981147f5"/>
    <p:sldId xmlns:r="http://schemas.openxmlformats.org/officeDocument/2006/relationships" id="268" r:id="R7f7d590150b94267"/>
    <p:sldId xmlns:r="http://schemas.openxmlformats.org/officeDocument/2006/relationships" id="269" r:id="R009ac69b28da49fb"/>
    <p:sldId xmlns:r="http://schemas.openxmlformats.org/officeDocument/2006/relationships" id="270" r:id="R4e24e14c01044a15"/>
    <p:sldId xmlns:r="http://schemas.openxmlformats.org/officeDocument/2006/relationships" id="271" r:id="R71e2c7ba05ee4e1f"/>
    <p:sldId xmlns:r="http://schemas.openxmlformats.org/officeDocument/2006/relationships" id="272" r:id="R1b7ddf89a8ec4f31"/>
    <p:sldId xmlns:r="http://schemas.openxmlformats.org/officeDocument/2006/relationships" id="273" r:id="R7da342b32f9e4a01"/>
    <p:sldId xmlns:r="http://schemas.openxmlformats.org/officeDocument/2006/relationships" id="274" r:id="R688822f5a77b4d5e"/>
    <p:sldId xmlns:r="http://schemas.openxmlformats.org/officeDocument/2006/relationships" id="275" r:id="Rf9054ffea185454e"/>
    <p:sldId xmlns:r="http://schemas.openxmlformats.org/officeDocument/2006/relationships" id="276" r:id="R6cd7bc050ab94f7a"/>
    <p:sldId xmlns:r="http://schemas.openxmlformats.org/officeDocument/2006/relationships" id="277" r:id="R6b026c59c9104fc3"/>
    <p:sldId xmlns:r="http://schemas.openxmlformats.org/officeDocument/2006/relationships" id="278" r:id="R5712d1043a354ab5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7f61eff9a4abe" /><Relationship Type="http://schemas.openxmlformats.org/officeDocument/2006/relationships/slideMaster" Target="/ppt/slideMasters/slideMaster1.xml" Id="Reefab60e59d9487c" /><Relationship Type="http://schemas.openxmlformats.org/officeDocument/2006/relationships/notesMaster" Target="/ppt/notesMasters/notesMaster1.xml" Id="Raa464f37c9404962" /><Relationship Type="http://schemas.openxmlformats.org/officeDocument/2006/relationships/presProps" Target="/ppt/presProps.xml" Id="R76c263d801b94bc1" /><Relationship Type="http://schemas.openxmlformats.org/officeDocument/2006/relationships/viewProps" Target="/ppt/viewProps.xml" Id="Rdee3eb9f089f437d" /><Relationship Type="http://schemas.openxmlformats.org/officeDocument/2006/relationships/tableStyles" Target="/ppt/tableStyles.xml" Id="R23ca920cac2a402f" /><Relationship Type="http://schemas.openxmlformats.org/officeDocument/2006/relationships/slide" Target="/ppt/slides/slide1.xml" Id="R64086cebe8624606" /><Relationship Type="http://schemas.openxmlformats.org/officeDocument/2006/relationships/slide" Target="/ppt/slides/slide2.xml" Id="R9f4863564c5c4de9" /><Relationship Type="http://schemas.openxmlformats.org/officeDocument/2006/relationships/slide" Target="/ppt/slides/slide3.xml" Id="Ra57202552a3441d9" /><Relationship Type="http://schemas.openxmlformats.org/officeDocument/2006/relationships/slide" Target="/ppt/slides/slide4.xml" Id="R1d828c35ad61441f" /><Relationship Type="http://schemas.openxmlformats.org/officeDocument/2006/relationships/slide" Target="/ppt/slides/slide5.xml" Id="R9189ae17fe624975" /><Relationship Type="http://schemas.openxmlformats.org/officeDocument/2006/relationships/slide" Target="/ppt/slides/slide6.xml" Id="Rd91c20716b0b4164" /><Relationship Type="http://schemas.openxmlformats.org/officeDocument/2006/relationships/slide" Target="/ppt/slides/slide7.xml" Id="R33dbce6616f34ba0" /><Relationship Type="http://schemas.openxmlformats.org/officeDocument/2006/relationships/slide" Target="/ppt/slides/slide8.xml" Id="R614b8fbdbb9f4587" /><Relationship Type="http://schemas.openxmlformats.org/officeDocument/2006/relationships/slide" Target="/ppt/slides/slide9.xml" Id="R43f7875ce38c4fad" /><Relationship Type="http://schemas.openxmlformats.org/officeDocument/2006/relationships/slide" Target="/ppt/slides/slide10.xml" Id="R687ad808baba4013" /><Relationship Type="http://schemas.openxmlformats.org/officeDocument/2006/relationships/slide" Target="/ppt/slides/slide11.xml" Id="R046d757c369448c7" /><Relationship Type="http://schemas.openxmlformats.org/officeDocument/2006/relationships/slide" Target="/ppt/slides/slide12.xml" Id="Rd765c6dd981147f5" /><Relationship Type="http://schemas.openxmlformats.org/officeDocument/2006/relationships/slide" Target="/ppt/slides/slide13.xml" Id="R7f7d590150b94267" /><Relationship Type="http://schemas.openxmlformats.org/officeDocument/2006/relationships/slide" Target="/ppt/slides/slide14.xml" Id="R009ac69b28da49fb" /><Relationship Type="http://schemas.openxmlformats.org/officeDocument/2006/relationships/slide" Target="/ppt/slides/slide15.xml" Id="R4e24e14c01044a15" /><Relationship Type="http://schemas.openxmlformats.org/officeDocument/2006/relationships/slide" Target="/ppt/slides/slide16.xml" Id="R71e2c7ba05ee4e1f" /><Relationship Type="http://schemas.openxmlformats.org/officeDocument/2006/relationships/slide" Target="/ppt/slides/slide17.xml" Id="R1b7ddf89a8ec4f31" /><Relationship Type="http://schemas.openxmlformats.org/officeDocument/2006/relationships/slide" Target="/ppt/slides/slide18.xml" Id="R7da342b32f9e4a01" /><Relationship Type="http://schemas.openxmlformats.org/officeDocument/2006/relationships/slide" Target="/ppt/slides/slide19.xml" Id="R688822f5a77b4d5e" /><Relationship Type="http://schemas.openxmlformats.org/officeDocument/2006/relationships/slide" Target="/ppt/slides/slide20.xml" Id="Rf9054ffea185454e" /><Relationship Type="http://schemas.openxmlformats.org/officeDocument/2006/relationships/slide" Target="/ppt/slides/slide21.xml" Id="R6cd7bc050ab94f7a" /><Relationship Type="http://schemas.openxmlformats.org/officeDocument/2006/relationships/slide" Target="/ppt/slides/slide22.xml" Id="R6b026c59c9104fc3" /><Relationship Type="http://schemas.openxmlformats.org/officeDocument/2006/relationships/slide" Target="/ppt/slides/slide23.xml" Id="R5712d1043a354a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6e9569d86642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5e9a0c4d174c21" /><Relationship Type="http://schemas.openxmlformats.org/officeDocument/2006/relationships/notesMaster" Target="/ppt/notesMasters/notesMaster1.xml" Id="R316d11133cc6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c1236360304926" /><Relationship Type="http://schemas.openxmlformats.org/officeDocument/2006/relationships/notesMaster" Target="/ppt/notesMasters/notesMaster1.xml" Id="Rd66dabfd949d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914f3a8cff41d1" /><Relationship Type="http://schemas.openxmlformats.org/officeDocument/2006/relationships/notesMaster" Target="/ppt/notesMasters/notesMaster1.xml" Id="R3ebf79e463cd45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69d0281e7d4387" /><Relationship Type="http://schemas.openxmlformats.org/officeDocument/2006/relationships/notesMaster" Target="/ppt/notesMasters/notesMaster1.xml" Id="R681a3aa76edc4c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4de1aac82e40c4" /><Relationship Type="http://schemas.openxmlformats.org/officeDocument/2006/relationships/notesMaster" Target="/ppt/notesMasters/notesMaster1.xml" Id="R2456467a4763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94024fd864485" /><Relationship Type="http://schemas.openxmlformats.org/officeDocument/2006/relationships/notesMaster" Target="/ppt/notesMasters/notesMaster1.xml" Id="Ra39e23a22bde43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301d0e89e64ad5" /><Relationship Type="http://schemas.openxmlformats.org/officeDocument/2006/relationships/notesMaster" Target="/ppt/notesMasters/notesMaster1.xml" Id="R8fe67f0696e047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ff2577dc8647d1" /><Relationship Type="http://schemas.openxmlformats.org/officeDocument/2006/relationships/notesMaster" Target="/ppt/notesMasters/notesMaster1.xml" Id="Rd7fe784b89d549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db3dcb0da4242" /><Relationship Type="http://schemas.openxmlformats.org/officeDocument/2006/relationships/notesMaster" Target="/ppt/notesMasters/notesMaster1.xml" Id="R4afc101b6ace40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7c93458ef9496b" /><Relationship Type="http://schemas.openxmlformats.org/officeDocument/2006/relationships/notesMaster" Target="/ppt/notesMasters/notesMaster1.xml" Id="R635629b0b91846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b5f6aef50e484f" /><Relationship Type="http://schemas.openxmlformats.org/officeDocument/2006/relationships/notesMaster" Target="/ppt/notesMasters/notesMaster1.xml" Id="Ra979e7a12a3346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70a534051d47f5" /><Relationship Type="http://schemas.openxmlformats.org/officeDocument/2006/relationships/notesMaster" Target="/ppt/notesMasters/notesMaster1.xml" Id="R5d572a6a28ec46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fbcaae33264f82" /><Relationship Type="http://schemas.openxmlformats.org/officeDocument/2006/relationships/notesMaster" Target="/ppt/notesMasters/notesMaster1.xml" Id="R35e20a98c14e44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3d03f0320f49d0" /><Relationship Type="http://schemas.openxmlformats.org/officeDocument/2006/relationships/notesMaster" Target="/ppt/notesMasters/notesMaster1.xml" Id="R93a917830d4248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20f1365331405b" /><Relationship Type="http://schemas.openxmlformats.org/officeDocument/2006/relationships/notesMaster" Target="/ppt/notesMasters/notesMaster1.xml" Id="R95393b289fe74c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3970677c034bb1" /><Relationship Type="http://schemas.openxmlformats.org/officeDocument/2006/relationships/notesMaster" Target="/ppt/notesMasters/notesMaster1.xml" Id="R6100181868474d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be187b72b44258" /><Relationship Type="http://schemas.openxmlformats.org/officeDocument/2006/relationships/notesMaster" Target="/ppt/notesMasters/notesMaster1.xml" Id="R714032b8ccb84d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ecb02d19134b5f" /><Relationship Type="http://schemas.openxmlformats.org/officeDocument/2006/relationships/notesMaster" Target="/ppt/notesMasters/notesMaster1.xml" Id="Re67e4ecfe4c741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9dbbe4ea534d6f" /><Relationship Type="http://schemas.openxmlformats.org/officeDocument/2006/relationships/notesMaster" Target="/ppt/notesMasters/notesMaster1.xml" Id="R217c0c0eea9540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974840154f4c78" /><Relationship Type="http://schemas.openxmlformats.org/officeDocument/2006/relationships/notesMaster" Target="/ppt/notesMasters/notesMaster1.xml" Id="Rd03e9d41f90743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d16293dba2407d" /><Relationship Type="http://schemas.openxmlformats.org/officeDocument/2006/relationships/notesMaster" Target="/ppt/notesMasters/notesMaster1.xml" Id="R7c22bdd7fb2340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b928273ad142ac" /><Relationship Type="http://schemas.openxmlformats.org/officeDocument/2006/relationships/notesMaster" Target="/ppt/notesMasters/notesMaster1.xml" Id="R169a597c06a24a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10504865e84713" /><Relationship Type="http://schemas.openxmlformats.org/officeDocument/2006/relationships/notesMaster" Target="/ppt/notesMasters/notesMaster1.xml" Id="R799e804cb824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bootcamp learning exercise. The goal was to learn how to design, evaluate and govern an agentic forecaster, not to ship a production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the main deliverable is learning. The bounded agent stayed close to the statistical anchor, but rare events and coincident signals meant no model beat the base rate in this backtest.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rate 6.25% (20 of 320 months). No dollar impact is claimed; the value case is earlier, more consistent warning.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8 candidates with both scores reported are shown. 2018-2024 is a historical diagnostic, not a protected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guardrail limited harm; it did not create skill.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Branch addition: cutoff-aware OutcomeLedger and separate periodic strategy review.</a:t>
            </a:r>
            <a:endParaRPr/>
          </a:p>
          <a:p xmlns:a="http://schemas.openxmlformats.org/drawingml/2006/main">
            <a:r>
              <a:t>The key control is temporal: an outcome cannot enter memory until its publication date is at or before the current forecast origin.</a:t>
            </a:r>
            <a:endParaRPr/>
          </a:p>
          <a:p xmlns:a="http://schemas.openxmlformats.org/drawingml/2006/main">
            <a:r>
              <a:t>Source: adaptive_agent/ledger.py, adaptive_agent/review.py and adaptive_agent/tools.py.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changes make the adaptive process testable. Memory writes now have a resolvable evidence chain rather than narrative references to the current forecast.</a:t>
            </a:r>
            <a:endParaRPr/>
          </a:p>
          <a:p xmlns:a="http://schemas.openxmlformats.org/drawingml/2006/main">
            <a:r>
              <a:t>Source: branch commits 5bd7ce1, aef3a51 and 0e6c584; test_adaptive_learning.py; reports/full_history.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reports/full_history/executive_report.md and tables/model_comparison.csv.</a:t>
            </a:r>
            <a:endParaRPr/>
          </a:p>
          <a:p xmlns:a="http://schemas.openxmlformats.org/drawingml/2006/main">
            <a:r>
              <a:t>The interval uses a six-month circular block bootstrap. The DM test uses HAC variance for overlapping three-month forecast horizons.</a:t>
            </a:r>
            <a:endParaRPr/>
          </a:p>
          <a:p xmlns:a="http://schemas.openxmlformats.org/drawingml/2006/main">
            <a:r>
              <a:t>The result concerns the evaluated feature set and retrospective sample; it does not prove that manufacturing stress is inherently unpredictable.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reports/adaptive_walk_forward/lite and reports/adaptive_walk_forward/lite_no_review.</a:t>
            </a:r>
            <a:endParaRPr/>
          </a:p>
          <a:p xmlns:a="http://schemas.openxmlformats.org/drawingml/2006/main">
            <a:r>
              <a:t>The reviewed adaptive-versus-anchor mean Brier difference was -0.00132 with DM p = 0.396. Negative favors the adaptive agent.</a:t>
            </a:r>
            <a:endParaRPr/>
          </a:p>
          <a:p xmlns:a="http://schemas.openxmlformats.org/drawingml/2006/main">
            <a:r>
              <a:t>Reviews occurred every four origins and after a newly resolved stress event. The saved run contains 76 forecasts, 24 reviews and 35 strategy mutations.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5e7690bd943c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3c631725b4488d" /><Relationship Type="http://schemas.openxmlformats.org/officeDocument/2006/relationships/slideLayout" Target="/ppt/slideLayouts/slideLayout1.xml" Id="R61adbd2cf28441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dbd2cf284415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45004d3394894" /><Relationship Type="http://schemas.openxmlformats.org/officeDocument/2006/relationships/image" Target="/ppt/media/image.png" Id="Rc77697dd97d147f0" /><Relationship Type="http://schemas.openxmlformats.org/officeDocument/2006/relationships/image" Target="/ppt/media/image2.png" Id="Rd1e6ef72b16b448d" /><Relationship Type="http://schemas.openxmlformats.org/officeDocument/2006/relationships/notesSlide" Target="/ppt/notesSlides/notesSlide1.xml" Id="R070c36fc3cb646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8935d37514a10" /><Relationship Type="http://schemas.openxmlformats.org/officeDocument/2006/relationships/image" Target="/ppt/media/image3.png" Id="Recaacbf4f05b4373" /><Relationship Type="http://schemas.openxmlformats.org/officeDocument/2006/relationships/image" Target="/ppt/media/image2.png" Id="R2b5418a98908458a" /><Relationship Type="http://schemas.openxmlformats.org/officeDocument/2006/relationships/image" Target="/ppt/media/image4.png" Id="Rfd683a9fcda845ed" /><Relationship Type="http://schemas.openxmlformats.org/officeDocument/2006/relationships/image" Target="/ppt/media/image5.png" Id="Rb5c7bc505d74444d" /><Relationship Type="http://schemas.openxmlformats.org/officeDocument/2006/relationships/image" Target="/ppt/media/image6.png" Id="R796f50ae02804835" /><Relationship Type="http://schemas.openxmlformats.org/officeDocument/2006/relationships/image" Target="/ppt/media/image7.png" Id="R75f9c5b8967c400e" /><Relationship Type="http://schemas.openxmlformats.org/officeDocument/2006/relationships/notesSlide" Target="/ppt/notesSlides/notesSlide2.xml" Id="R90151400424d42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34c59b1744c17" /><Relationship Type="http://schemas.openxmlformats.org/officeDocument/2006/relationships/image" Target="/ppt/media/image3.png" Id="R79fd1a3f62ff4c90" /><Relationship Type="http://schemas.openxmlformats.org/officeDocument/2006/relationships/image" Target="/ppt/media/image2.png" Id="R04b68c6ee5954977" /><Relationship Type="http://schemas.openxmlformats.org/officeDocument/2006/relationships/image" Target="/ppt/media/image8.png" Id="Ra2808deddcf24097" /><Relationship Type="http://schemas.openxmlformats.org/officeDocument/2006/relationships/image" Target="/ppt/media/image9.png" Id="R04f1f6c7cc9d4d91" /><Relationship Type="http://schemas.openxmlformats.org/officeDocument/2006/relationships/image" Target="/ppt/media/image10.png" Id="R0a99bd0d5a974ff2" /><Relationship Type="http://schemas.openxmlformats.org/officeDocument/2006/relationships/image" Target="/ppt/media/image11.png" Id="Rb401597a98fd4c25" /><Relationship Type="http://schemas.openxmlformats.org/officeDocument/2006/relationships/notesSlide" Target="/ppt/notesSlides/notesSlide3.xml" Id="Rccd612d33aec45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57f9acaf4d83" /><Relationship Type="http://schemas.openxmlformats.org/officeDocument/2006/relationships/image" Target="/ppt/media/image3.png" Id="Rec2e59c7bbfd4f17" /><Relationship Type="http://schemas.openxmlformats.org/officeDocument/2006/relationships/image" Target="/ppt/media/image2.png" Id="Rb7dd40001d474cc1" /><Relationship Type="http://schemas.openxmlformats.org/officeDocument/2006/relationships/image" Target="/ppt/media/image12.png" Id="R6a268cf5e4404764" /><Relationship Type="http://schemas.openxmlformats.org/officeDocument/2006/relationships/notesSlide" Target="/ppt/notesSlides/notesSlide4.xml" Id="R3943bcc8344e4d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98695dbf34f88" /><Relationship Type="http://schemas.openxmlformats.org/officeDocument/2006/relationships/image" Target="/ppt/media/image3.png" Id="Rb23e8b34e6934fec" /><Relationship Type="http://schemas.openxmlformats.org/officeDocument/2006/relationships/image" Target="/ppt/media/image2.png" Id="R5676adc67cd046f9" /><Relationship Type="http://schemas.openxmlformats.org/officeDocument/2006/relationships/image" Target="/ppt/media/image13.png" Id="R9a2ec77b29034f31" /><Relationship Type="http://schemas.openxmlformats.org/officeDocument/2006/relationships/image" Target="/ppt/media/image14.png" Id="R835f671583bb4f41" /><Relationship Type="http://schemas.openxmlformats.org/officeDocument/2006/relationships/image" Target="/ppt/media/image15.png" Id="R8b6c081ef5cd401e" /><Relationship Type="http://schemas.openxmlformats.org/officeDocument/2006/relationships/image" Target="/ppt/media/image8.png" Id="R45a5a1a36e3f4afa" /><Relationship Type="http://schemas.openxmlformats.org/officeDocument/2006/relationships/notesSlide" Target="/ppt/notesSlides/notesSlide5.xml" Id="R744b1c2391d2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e4ebada9f4736" /><Relationship Type="http://schemas.openxmlformats.org/officeDocument/2006/relationships/image" Target="/ppt/media/image3.png" Id="R8e117f7f7f3d4a28" /><Relationship Type="http://schemas.openxmlformats.org/officeDocument/2006/relationships/image" Target="/ppt/media/image2.png" Id="Rb72e0fa014b5420d" /><Relationship Type="http://schemas.openxmlformats.org/officeDocument/2006/relationships/image" Target="/ppt/media/image16.png" Id="R97433cb2a80a4022" /><Relationship Type="http://schemas.openxmlformats.org/officeDocument/2006/relationships/image" Target="/ppt/media/image9.png" Id="R2fbd3d4c51074776" /><Relationship Type="http://schemas.openxmlformats.org/officeDocument/2006/relationships/image" Target="/ppt/media/image15.png" Id="R51c6f793decf4c3c" /><Relationship Type="http://schemas.openxmlformats.org/officeDocument/2006/relationships/notesSlide" Target="/ppt/notesSlides/notesSlide6.xml" Id="R51f44ab3e2d94c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46bea7d734367" /><Relationship Type="http://schemas.openxmlformats.org/officeDocument/2006/relationships/image" Target="/ppt/media/image3.png" Id="R72783315f1c0418c" /><Relationship Type="http://schemas.openxmlformats.org/officeDocument/2006/relationships/image" Target="/ppt/media/image2.png" Id="R54124b233fb14477" /><Relationship Type="http://schemas.openxmlformats.org/officeDocument/2006/relationships/notesSlide" Target="/ppt/notesSlides/notesSlide7.xml" Id="R0f02c1746dbf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c7d228a3940a9" /><Relationship Type="http://schemas.openxmlformats.org/officeDocument/2006/relationships/image" Target="/ppt/media/image3.png" Id="R411596524d2c4911" /><Relationship Type="http://schemas.openxmlformats.org/officeDocument/2006/relationships/image" Target="/ppt/media/image2.png" Id="R246efe49438c45f9" /><Relationship Type="http://schemas.openxmlformats.org/officeDocument/2006/relationships/notesSlide" Target="/ppt/notesSlides/notesSlide8.xml" Id="R740bc1b635a546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afb467b524548" /><Relationship Type="http://schemas.openxmlformats.org/officeDocument/2006/relationships/image" Target="/ppt/media/image3.png" Id="Rb99ee5bb5a3943a7" /><Relationship Type="http://schemas.openxmlformats.org/officeDocument/2006/relationships/image" Target="/ppt/media/image2.png" Id="Rb96c935a5d7243cd" /><Relationship Type="http://schemas.openxmlformats.org/officeDocument/2006/relationships/image" Target="/ppt/media/image17.png" Id="R407dd6037f5d4971" /><Relationship Type="http://schemas.openxmlformats.org/officeDocument/2006/relationships/notesSlide" Target="/ppt/notesSlides/notesSlide9.xml" Id="R14c4d1b407a247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4cf5f299f4c75" /><Relationship Type="http://schemas.openxmlformats.org/officeDocument/2006/relationships/image" Target="/ppt/media/image3.png" Id="R7778300599434bcf" /><Relationship Type="http://schemas.openxmlformats.org/officeDocument/2006/relationships/image" Target="/ppt/media/image2.png" Id="R9e49af4791dd497c" /><Relationship Type="http://schemas.openxmlformats.org/officeDocument/2006/relationships/image" Target="/ppt/media/image18.png" Id="R4695b78200cd46f0" /><Relationship Type="http://schemas.openxmlformats.org/officeDocument/2006/relationships/notesSlide" Target="/ppt/notesSlides/notesSlide10.xml" Id="R2cd5b7800f1c47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5c2aa09df4059" /><Relationship Type="http://schemas.openxmlformats.org/officeDocument/2006/relationships/image" Target="/ppt/media/image3.png" Id="R4a05132bba6d4f16" /><Relationship Type="http://schemas.openxmlformats.org/officeDocument/2006/relationships/image" Target="/ppt/media/image2.png" Id="Re9b0ab5b069a4397" /><Relationship Type="http://schemas.openxmlformats.org/officeDocument/2006/relationships/image" Target="/ppt/media/image19.png" Id="R7a516f1c6f4a425e" /><Relationship Type="http://schemas.openxmlformats.org/officeDocument/2006/relationships/notesSlide" Target="/ppt/notesSlides/notesSlide11.xml" Id="R784fe62b7c5844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a4e75e81d4efe" /><Relationship Type="http://schemas.openxmlformats.org/officeDocument/2006/relationships/image" Target="/ppt/media/image3.png" Id="Rf9a5239b6ade44d7" /><Relationship Type="http://schemas.openxmlformats.org/officeDocument/2006/relationships/image" Target="/ppt/media/image2.png" Id="R1783e2ade8634a55" /><Relationship Type="http://schemas.openxmlformats.org/officeDocument/2006/relationships/image" Target="/ppt/media/image20.png" Id="R285396510d564dda" /><Relationship Type="http://schemas.openxmlformats.org/officeDocument/2006/relationships/notesSlide" Target="/ppt/notesSlides/notesSlide12.xml" Id="R929df96b2f1e49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627e0c6e740b6" /><Relationship Type="http://schemas.openxmlformats.org/officeDocument/2006/relationships/image" Target="/ppt/media/image3.png" Id="Rce0af71994ae4833" /><Relationship Type="http://schemas.openxmlformats.org/officeDocument/2006/relationships/image" Target="/ppt/media/image2.png" Id="R860044055ee64252" /><Relationship Type="http://schemas.openxmlformats.org/officeDocument/2006/relationships/image" Target="/ppt/media/image21.png" Id="Rbaf388bd6ec14e94" /><Relationship Type="http://schemas.openxmlformats.org/officeDocument/2006/relationships/notesSlide" Target="/ppt/notesSlides/notesSlide13.xml" Id="R46bd57ae40654d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6bedd9127419b" /><Relationship Type="http://schemas.openxmlformats.org/officeDocument/2006/relationships/image" Target="/ppt/media/image3.png" Id="Rf74aaf937d5649c7" /><Relationship Type="http://schemas.openxmlformats.org/officeDocument/2006/relationships/image" Target="/ppt/media/image2.png" Id="Rae02590066894aa6" /><Relationship Type="http://schemas.openxmlformats.org/officeDocument/2006/relationships/image" Target="/ppt/media/image22.png" Id="Ra9d1a0b4617442ca" /><Relationship Type="http://schemas.openxmlformats.org/officeDocument/2006/relationships/notesSlide" Target="/ppt/notesSlides/notesSlide14.xml" Id="Re3230fbb5daa43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8f11c415f4e2a" /><Relationship Type="http://schemas.openxmlformats.org/officeDocument/2006/relationships/image" Target="/ppt/media/image3.png" Id="R01b7db7cf4704f8b" /><Relationship Type="http://schemas.openxmlformats.org/officeDocument/2006/relationships/image" Target="/ppt/media/image2.png" Id="R2a7d65e470514011" /><Relationship Type="http://schemas.openxmlformats.org/officeDocument/2006/relationships/image" Target="/ppt/media/image23.png" Id="R7eb8a121316c4b6d" /><Relationship Type="http://schemas.openxmlformats.org/officeDocument/2006/relationships/notesSlide" Target="/ppt/notesSlides/notesSlide15.xml" Id="Rf2d303c13ae74d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df42892004a62" /><Relationship Type="http://schemas.openxmlformats.org/officeDocument/2006/relationships/image" Target="/ppt/media/image3.png" Id="Rc80487fdcc9e4b36" /><Relationship Type="http://schemas.openxmlformats.org/officeDocument/2006/relationships/image" Target="/ppt/media/image2.png" Id="Rb540d76a38cb4dba" /><Relationship Type="http://schemas.openxmlformats.org/officeDocument/2006/relationships/image" Target="/ppt/media/image24.png" Id="R690ed169eb904f88" /><Relationship Type="http://schemas.openxmlformats.org/officeDocument/2006/relationships/image" Target="/ppt/media/image25.png" Id="R1bcb5d666e214bac" /><Relationship Type="http://schemas.openxmlformats.org/officeDocument/2006/relationships/image" Target="/ppt/media/image26.png" Id="Re608bad1d1174078" /><Relationship Type="http://schemas.openxmlformats.org/officeDocument/2006/relationships/image" Target="/ppt/media/image14.png" Id="R7f970b5fd17b4746" /><Relationship Type="http://schemas.openxmlformats.org/officeDocument/2006/relationships/image" Target="/ppt/media/image27.png" Id="R823aa9d6de5e441c" /><Relationship Type="http://schemas.openxmlformats.org/officeDocument/2006/relationships/image" Target="/ppt/media/image28.png" Id="Rfa7d247c6c3f45ce" /><Relationship Type="http://schemas.openxmlformats.org/officeDocument/2006/relationships/notesSlide" Target="/ppt/notesSlides/notesSlide16.xml" Id="Rd8c1099ba58444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0c29849d4534" /><Relationship Type="http://schemas.openxmlformats.org/officeDocument/2006/relationships/image" Target="/ppt/media/image3.png" Id="Rf042f12d235740c9" /><Relationship Type="http://schemas.openxmlformats.org/officeDocument/2006/relationships/image" Target="/ppt/media/image2.png" Id="Rbb46d6ff82c34410" /><Relationship Type="http://schemas.openxmlformats.org/officeDocument/2006/relationships/notesSlide" Target="/ppt/notesSlides/notesSlide17.xml" Id="Ra993ef96320742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41ce1c7b545bb" /><Relationship Type="http://schemas.openxmlformats.org/officeDocument/2006/relationships/image" Target="/ppt/media/image3.png" Id="Rfc3e7d67488e4ca7" /><Relationship Type="http://schemas.openxmlformats.org/officeDocument/2006/relationships/image" Target="/ppt/media/image2.png" Id="R5b7426d6c1c44f00" /><Relationship Type="http://schemas.openxmlformats.org/officeDocument/2006/relationships/notesSlide" Target="/ppt/notesSlides/notesSlide18.xml" Id="R41d0e60b464d41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fa8b692e14ca4" /><Relationship Type="http://schemas.openxmlformats.org/officeDocument/2006/relationships/image" Target="/ppt/media/image3.png" Id="R8dcf0f197d094039" /><Relationship Type="http://schemas.openxmlformats.org/officeDocument/2006/relationships/image" Target="/ppt/media/image2.png" Id="R965f941f9f044ae7" /><Relationship Type="http://schemas.openxmlformats.org/officeDocument/2006/relationships/notesSlide" Target="/ppt/notesSlides/notesSlide19.xml" Id="Rc9e7e5c7ad514b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dd6d8fff3408f" /><Relationship Type="http://schemas.openxmlformats.org/officeDocument/2006/relationships/image" Target="/ppt/media/image3.png" Id="Rcb3b9d6b0ee14967" /><Relationship Type="http://schemas.openxmlformats.org/officeDocument/2006/relationships/image" Target="/ppt/media/image2.png" Id="R3af1a8670d844f07" /><Relationship Type="http://schemas.openxmlformats.org/officeDocument/2006/relationships/notesSlide" Target="/ppt/notesSlides/notesSlide20.xml" Id="R908455a0e30c41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2ff2915814907" /><Relationship Type="http://schemas.openxmlformats.org/officeDocument/2006/relationships/image" Target="/ppt/media/image3.png" Id="R6dfca231fab14755" /><Relationship Type="http://schemas.openxmlformats.org/officeDocument/2006/relationships/image" Target="/ppt/media/image2.png" Id="R5f652ff6db914d81" /><Relationship Type="http://schemas.openxmlformats.org/officeDocument/2006/relationships/image" Target="/ppt/media/image29.png" Id="R48078a40870d4da0" /><Relationship Type="http://schemas.openxmlformats.org/officeDocument/2006/relationships/notesSlide" Target="/ppt/notesSlides/notesSlide21.xml" Id="R084f533cef4245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25acd21f64816" /><Relationship Type="http://schemas.openxmlformats.org/officeDocument/2006/relationships/image" Target="/ppt/media/image3.png" Id="Rdaf08353364d4fa4" /><Relationship Type="http://schemas.openxmlformats.org/officeDocument/2006/relationships/image" Target="/ppt/media/image2.png" Id="Rac1e059422274763" /><Relationship Type="http://schemas.openxmlformats.org/officeDocument/2006/relationships/image" Target="/ppt/media/image30.png" Id="R5b5623a585b241e1" /><Relationship Type="http://schemas.openxmlformats.org/officeDocument/2006/relationships/notesSlide" Target="/ppt/notesSlides/notesSlide22.xml" Id="Rf111892bc9ee4e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406daaf7b4dc1" /><Relationship Type="http://schemas.openxmlformats.org/officeDocument/2006/relationships/image" Target="/ppt/media/image31.png" Id="Ra0640130810c465b" /><Relationship Type="http://schemas.openxmlformats.org/officeDocument/2006/relationships/image" Target="/ppt/media/image.png" Id="Rb5c5a4e37b3745ad" /><Relationship Type="http://schemas.openxmlformats.org/officeDocument/2006/relationships/image" Target="/ppt/media/image2.png" Id="R783c843e770d43c9" /><Relationship Type="http://schemas.openxmlformats.org/officeDocument/2006/relationships/notesSlide" Target="/ppt/notesSlides/notesSlide23.xml" Id="R160c513bdb8e4a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2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DCFFD1-8F89-4C7B-BE9A-FFA906F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44B52EB0-AE46-49BE-9E5E-5D62BB8F81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697dd97d1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0" y="274320"/>
            <a:ext cx="1097280" cy="457200"/>
          </a:xfrm>
          <a:prstGeom xmlns:a="http://schemas.openxmlformats.org/drawingml/2006/main" prst="rect">
            <a:avLst/>
          </a:prstGeom>
        </p:spPr>
      </p:pic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405EF1BF-DE44-41CF-B6BC-18A5865F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"/>
            <a:ext cx="24688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" name="Image 2">
            <a:extLst xmlns:a="http://schemas.openxmlformats.org/drawingml/2006/main">
              <a:ext uri="{FF2B5EF4-FFF2-40B4-BE49-F238E27FC236}">
                <a16:creationId xmlns:a16="http://schemas.microsoft.com/office/drawing/2014/main" id="{A53B6898-8432-4D87-8E56-9F4EF0F20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6ef72b16b44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29184"/>
            <a:ext cx="2194560" cy="303142"/>
          </a:xfrm>
          <a:prstGeom xmlns:a="http://schemas.openxmlformats.org/drawingml/2006/main" prst="rect">
            <a:avLst/>
          </a:prstGeom>
        </p:spPr>
      </p:pic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235C90B2-CC6C-4138-A753-CC83DAA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200">
                <a:solidFill>
                  <a:srgbClr val="8EC9EC"/>
                </a:solidFill>
                <a:latin typeface="Arial"/>
                <a:ea typeface="Arial"/>
                <a:cs typeface="Arial"/>
              </a:rPr>
              <a:t>AGENTIC AI FORECASTING BOOTCAMP</a:t>
            </a:r>
            <a:endParaRPr sz="950"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6D361F54-7932-48C5-ABD2-9472EA8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" y="1280160"/>
            <a:ext cx="7979343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Forecasting U.S. Manufacturing Stress with a Governed Adaptive Agent</a:t>
            </a:r>
            <a:endParaRPr sz="28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931C7D8A-36FC-4182-8487-EBC2A16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71224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9DCEB"/>
                </a:solidFill>
                <a:latin typeface="Arial"/>
                <a:ea typeface="Arial"/>
                <a:cs typeface="Arial"/>
              </a:rPr>
              <a:t>What we learned combining a statistical anchor, an LLM analyst and auditable agent memory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9960333-B137-414B-BBDA-942601E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457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09A9EDBA-F4D9-4B8A-A5BB-7EC863F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11880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BMO Two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October 2026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20327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4373B4-A95E-4D42-BA4F-1501C06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0C390B-9581-405F-AE4D-64CB988E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TEAM BMO TWO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83B5A8-8539-4172-AB7F-8933EF00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Meet the Team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1C113FC4-4238-4875-9B1E-5D64564CE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acbf4f05b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1A4C06EF-73A9-429C-8745-D52B4665F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418a98908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AA861B3-1B61-4530-9470-ABC997C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88CB929-EB70-4FA3-9A89-AC2BD1A3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6BF7987-4CE4-4C33-8D6B-BF9C358B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1234440"/>
            <a:ext cx="15544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AE677E0-B68C-4E5F-95E6-634C1E4F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1234440"/>
            <a:ext cx="15544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Image 2">
            <a:extLst xmlns:a="http://schemas.openxmlformats.org/drawingml/2006/main">
              <a:ext uri="{FF2B5EF4-FFF2-40B4-BE49-F238E27FC236}">
                <a16:creationId xmlns:a16="http://schemas.microsoft.com/office/drawing/2014/main" id="{87C98258-9C8C-40D0-BED7-6D872ED15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83a9fcda845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" y="150876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4AA4B1F2-4BF0-4AD7-A47E-451A57F4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" y="1508760"/>
            <a:ext cx="1051560" cy="105156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C483333-F82A-48E0-AEF3-C0A688A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Mina Attari</a:t>
            </a:r>
            <a:endParaRPr sz="12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5ECB514-5FDD-44B4-8ACF-7238723F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3246120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Wholesale Credit</a:t>
            </a:r>
            <a:endParaRPr sz="9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A4DB4F7B-0976-42AF-AA65-785138F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234440"/>
            <a:ext cx="15544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F6921C3B-D47E-48C7-93E6-973DDDC7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234440"/>
            <a:ext cx="15544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Image 3">
            <a:extLst xmlns:a="http://schemas.openxmlformats.org/drawingml/2006/main">
              <a:ext uri="{FF2B5EF4-FFF2-40B4-BE49-F238E27FC236}">
                <a16:creationId xmlns:a16="http://schemas.microsoft.com/office/drawing/2014/main" id="{28117645-BFF9-4450-8D59-9A49D2C49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7bc505d7444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2868" y="150876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9E4E39DF-336C-4781-97CC-D764D9AC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868" y="1508760"/>
            <a:ext cx="1051560" cy="105156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7DD69DA-450A-4FA2-9A6A-8BD060CE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7432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Nitya Joshi</a:t>
            </a:r>
            <a:endParaRPr sz="12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785B506B-2D74-4F0A-8034-4DB5BFF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46120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Retail IFRS 9 / CECL Model Development</a:t>
            </a:r>
            <a:endParaRPr sz="9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59C89324-F2BF-452E-B53B-04C78491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234440"/>
            <a:ext cx="15544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467C6BFE-4174-4849-B709-DFF70CF5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234440"/>
            <a:ext cx="15544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" name="Image 4">
            <a:extLst xmlns:a="http://schemas.openxmlformats.org/drawingml/2006/main">
              <a:ext uri="{FF2B5EF4-FFF2-40B4-BE49-F238E27FC236}">
                <a16:creationId xmlns:a16="http://schemas.microsoft.com/office/drawing/2014/main" id="{93AD0539-49C0-424E-B7ED-68522BFC6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f50ae02804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1940" y="150876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CF1C8E33-BE39-4DA2-B676-9D415E9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940" y="1508760"/>
            <a:ext cx="1051560" cy="105156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8A4FFB6-8410-4921-997A-659D7C98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7432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Pratyush Patodia</a:t>
            </a:r>
            <a:endParaRPr sz="120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FE7DE06A-091D-4860-BA12-541C129B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246120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IFRS 9 Wholesale Model Development</a:t>
            </a:r>
            <a:endParaRPr sz="9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B99E51A8-7FBB-4E6D-BBE4-C92D3F0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234440"/>
            <a:ext cx="15544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F68266FD-BD27-43B7-9DE8-F54DA48B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234440"/>
            <a:ext cx="15544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9" name="Image 5">
            <a:extLst xmlns:a="http://schemas.openxmlformats.org/drawingml/2006/main">
              <a:ext uri="{FF2B5EF4-FFF2-40B4-BE49-F238E27FC236}">
                <a16:creationId xmlns:a16="http://schemas.microsoft.com/office/drawing/2014/main" id="{F3F82BA4-6FE5-4C35-B067-10AE5CF189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9c5b8967c40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1012" y="150876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EBDB7093-6E90-4CC4-BF28-9D621B8E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012" y="1508760"/>
            <a:ext cx="1051560" cy="105156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16E40251-CE9D-436C-9D91-F0C44573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7432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Vaibhav K Beohar</a:t>
            </a:r>
            <a:endParaRPr sz="120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AF9BB834-CB37-49A0-993A-77904A4A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246120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Manager, Machine Learning</a:t>
            </a:r>
            <a:endParaRPr sz="90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3D05A749-9BEC-48F6-AEAB-4A66585F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1234440"/>
            <a:ext cx="15544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450B452C-B4A0-4D0C-B496-00AF63A8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1234440"/>
            <a:ext cx="15544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B2388091-28F6-4A7A-A206-11175F3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084" y="150876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905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599B2C83-8D06-4B36-90FD-5D604F5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084" y="1508760"/>
            <a:ext cx="1051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NS</a:t>
            </a:r>
            <a:endParaRPr sz="24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0C0574D6-F90C-4955-AD44-1F96C699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432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Navid Sabbaghi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13713568-33B4-4639-8B02-15E47B6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246120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Senior Specialist, IC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2100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B0E88F-2DA8-4086-B96C-BE762788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D9C178-D29F-48A5-A901-B146E916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IN ONE PAGE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7F04C9-230B-41B6-9124-515516B1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Executive Summary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20FC7CA4-86B7-4879-BEB1-4B91037C1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d1a3f62ff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7F2CF1AC-E96D-4BB5-84FC-BBAA18231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68c6ee595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0D93249-D64A-4F7A-B095-7AB0040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D4E9BFD-9606-4D74-B10B-F5DBCC38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3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F3F5FFA-7286-40B4-8BCE-55CF2CF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" name="Image 2">
            <a:extLst xmlns:a="http://schemas.openxmlformats.org/drawingml/2006/main">
              <a:ext uri="{FF2B5EF4-FFF2-40B4-BE49-F238E27FC236}">
                <a16:creationId xmlns:a16="http://schemas.microsoft.com/office/drawing/2014/main" id="{89BE5E97-FE1A-4A59-BC5D-C82F1BEA2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08deddcf24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030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098B02C-F7FE-41D6-8467-A485576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09728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Opportunity</a:t>
            </a:r>
            <a:endParaRPr sz="13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2D71A58-A33D-472F-BC04-C5208722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097280"/>
            <a:ext cx="5760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Early warning of U.S. manufacturing stress could support sector-level portfolio monitoring, but stress is rare (6.25% of months since 2000) and hard to anticipate.</a:t>
            </a:r>
            <a:endParaRPr sz="105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08753A75-938B-431B-BE26-0C7CF5EC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65376"/>
            <a:ext cx="7589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2DBEE8A1-603F-47A0-80E4-F97ED75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48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3">
            <a:extLst xmlns:a="http://schemas.openxmlformats.org/drawingml/2006/main">
              <a:ext uri="{FF2B5EF4-FFF2-40B4-BE49-F238E27FC236}">
                <a16:creationId xmlns:a16="http://schemas.microsoft.com/office/drawing/2014/main" id="{D9388222-A322-4A17-B406-18E66351C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1f6c7cc9d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9913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17A951AE-8C9A-4157-8E85-EA40945D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93392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Our Solution</a:t>
            </a:r>
            <a:endParaRPr sz="13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8743B8BF-1E94-4DC4-9DC5-716AD9C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93392"/>
            <a:ext cx="5760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forecasting workbench where an LLM agent starts from a logistic-regression anchor, adds evidence-based reasoning within a ±0.03 bound, and keeps a versioned, auditable strategy memory.</a:t>
            </a:r>
            <a:endParaRPr sz="105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A4B43CC-9080-4759-919E-43569F26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61488"/>
            <a:ext cx="7589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EF86B211-50E0-4B0E-A688-2B08361F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09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4">
            <a:extLst xmlns:a="http://schemas.openxmlformats.org/drawingml/2006/main">
              <a:ext uri="{FF2B5EF4-FFF2-40B4-BE49-F238E27FC236}">
                <a16:creationId xmlns:a16="http://schemas.microsoft.com/office/drawing/2014/main" id="{6F8363F6-DCCC-4C55-8776-749DFF450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9bd0d5a974f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09524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4010F6DA-4DAB-4FBB-BB4E-CA8DBEC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9504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</a:t>
            </a:r>
            <a:endParaRPr sz="13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43940B3B-890C-4558-89AD-8C57EB5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89504"/>
            <a:ext cx="5760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 84 monthly backtest origins (6 stress events), no model beat the historical-frequency baseline (Brier 0.0667). The bounded adaptive agent was close (0.0692); the unbounded LLM analyst was far worse (0.0979).</a:t>
            </a:r>
            <a:endParaRPr sz="105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BC2B6DDF-C9CB-4D93-8411-7412261A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57600"/>
            <a:ext cx="7589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AB7AC6A4-CC73-4177-8652-7180A55C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705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Image 5">
            <a:extLst xmlns:a="http://schemas.openxmlformats.org/drawingml/2006/main">
              <a:ext uri="{FF2B5EF4-FFF2-40B4-BE49-F238E27FC236}">
                <a16:creationId xmlns:a16="http://schemas.microsoft.com/office/drawing/2014/main" id="{B4BD0CA0-5D2B-4F51-98E6-2FA6605B9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597a98fd4c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99135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2D751417-1529-47A3-8342-E030AD1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85616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</a:t>
            </a:r>
            <a:endParaRPr sz="13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CF0D8E72-7D5D-4886-A75C-F477CF72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785616"/>
            <a:ext cx="5760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a frozen, prospective evaluation with immutable pre-outcome forecasts and more stress events, and add leading indicators before judging whether agents add skill.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36222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02EF3E-CEFC-4C15-8464-21B2DB4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046D1C-2131-4F62-B34A-20070905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WHY THIS MATTERS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240E26B-B3A6-4BF7-A5C4-EE4410E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Business Problem &amp; Opportunity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C181C2DF-3337-47F0-AB4E-D8121755F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e59c7bbfd4f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C5BEC807-4573-43E8-B494-FBDACC69E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d40001d474c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DF7BA47-4C7B-4413-94D2-9AE627A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3AF9DD-E5BA-4104-8C74-5EBFE5F5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4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FCD4D95-2034-4182-81CD-3FA96AB8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Challenge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38834DE-98B2-4816-ACF3-F0C504F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71600"/>
            <a:ext cx="3931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Credit teams monitor sector exposures and want earlier warning when an industry is heading into stress.</a:t>
            </a:r>
            <a:endParaRPr sz="100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Manufacturing stress is rare: 20 of 320 months (2000-2026) met our definition, clustered in 2008-09, 2020 and brief 2021-22 episodes.</a:t>
            </a:r>
            <a:endParaRPr sz="100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Traditional models struggle with few events, and analyst judgment is hard to make consistent and auditable.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15D8AEE-6BCE-4AC3-9640-C9BC9A6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632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The Opportunity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CB6D5C7-52DC-4218-9BAA-8405F1F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83280"/>
            <a:ext cx="39319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Agents can read many signals, explain their view, and combine statistics with judgment.</a:t>
            </a:r>
            <a:endParaRPr sz="100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If governed well, they could scale analyst-style monitoring across sectors with a full audit trail.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F472492-567C-431E-8F7F-17F29A3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515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Share of months in manufacturing stress, by year (%)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155A03BA-4241-4136-BE0E-A1CC1EA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42519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E6F2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C88BFDD-282A-4123-871C-361F951D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913632"/>
            <a:ext cx="4069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Target definition: </a:t>
            </a: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a month is "stressed" when U.S. manufacturing production (FRED IPMAN) has fallen by 2% or more over the previous 3 months. We forecast this 3 months ahead.</a:t>
            </a:r>
            <a:endParaRPr sz="900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1CFF4-9CBF-4507-B1FF-26F84E2B5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68cf5e4404764"/>
          <a:srcRect xmlns:a="http://schemas.openxmlformats.org/drawingml/2006/main" l="49000" t="25778" r="3500" b="25333"/>
          <a:stretch xmlns:a="http://schemas.openxmlformats.org/drawingml/2006/main"/>
        </p:blipFill>
        <p:spPr>
          <a:xfrm xmlns:a="http://schemas.openxmlformats.org/drawingml/2006/main">
            <a:off x="4480560" y="1325880"/>
            <a:ext cx="4343400" cy="251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96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3CA12E-D79B-4D41-B99B-1D48EA35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299641-C5F2-4963-9B22-7F625265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BOOTCAMP INTENT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16C6A3-D106-4A86-BC10-09C661FA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We Set Out to Learn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57AE41CD-68FA-4706-BCD8-24E3D6B475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8b34e6934f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B40AF8CC-D5B2-4E61-BC45-1FF8B5E96F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6adc67cd046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9153EBC-C43F-4791-AC21-319C818C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9800EEB-C0F3-4CE2-B616-AD67642E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5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DA2C546-F1D0-4D35-A084-5D528E0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goal was not a production model. We used a real, hard forecasting problem to learn how agentic forecasting systems should be built, tested and governed.</a:t>
            </a:r>
            <a:endParaRPr sz="11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1BAACFA-49AB-489E-9F51-FAD23D13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45920"/>
            <a:ext cx="40233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EECFC44-1C04-4B81-AFF6-3019E3B4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470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Image 2">
            <a:extLst xmlns:a="http://schemas.openxmlformats.org/drawingml/2006/main">
              <a:ext uri="{FF2B5EF4-FFF2-40B4-BE49-F238E27FC236}">
                <a16:creationId xmlns:a16="http://schemas.microsoft.com/office/drawing/2014/main" id="{080EC9A6-9BF7-424F-8D31-F15F135F1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ec77b29034f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" y="196138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A5CAF41-FE33-4BD8-91A8-1E62ABFB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78308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Can an LLM agent improve on a statistical forecast?</a:t>
            </a:r>
            <a:endParaRPr sz="115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615DCED-A155-4BBA-A18D-5B06356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3172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agents against baselines on identical, leakage-safe backtests.</a:t>
            </a:r>
            <a:endParaRPr sz="9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2B782053-5236-4AD1-BC72-D046C0A4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40233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BEA9EC25-A2EA-4687-A8F1-ADD70A6D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0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Image 3">
            <a:extLst xmlns:a="http://schemas.openxmlformats.org/drawingml/2006/main">
              <a:ext uri="{FF2B5EF4-FFF2-40B4-BE49-F238E27FC236}">
                <a16:creationId xmlns:a16="http://schemas.microsoft.com/office/drawing/2014/main" id="{49D78E79-9311-44B6-977E-596272AF0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f671583bb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196138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487E54A-21DF-4496-9BC5-AD88E13D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78308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do we keep an LLM forecaster safe?</a:t>
            </a:r>
            <a:endParaRPr sz="115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87CC562E-8823-4B9F-92F9-B4154676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33172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Anchor the agent to a numerical model and bound how far it can move.</a:t>
            </a:r>
            <a:endParaRPr sz="9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D7AB9FFB-3EFB-4FA6-BF97-CF5BA96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0"/>
            <a:ext cx="40233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81685EEF-A694-4B20-9ED3-B0E1D1CF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01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Image 4">
            <a:extLst xmlns:a="http://schemas.openxmlformats.org/drawingml/2006/main">
              <a:ext uri="{FF2B5EF4-FFF2-40B4-BE49-F238E27FC236}">
                <a16:creationId xmlns:a16="http://schemas.microsoft.com/office/drawing/2014/main" id="{1CCAAC30-1295-4E4C-8B31-F56999F9F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c081ef5cd40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" y="34244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5C0E319F-0637-4F49-9EA6-67A08D6C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4612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Can an agent learn from experience, transparently?</a:t>
            </a:r>
            <a:endParaRPr sz="115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5262D7F5-CAF7-4F94-A8D1-E7496B0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9476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Give it a versioned strategy memory with gated updates and an audit log.</a:t>
            </a:r>
            <a:endParaRPr sz="95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02C68333-7A6F-4586-8154-07F9932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08960"/>
            <a:ext cx="40233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F22ECFBB-2C29-419F-A0C4-CAC7088C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01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5">
            <a:extLst xmlns:a="http://schemas.openxmlformats.org/drawingml/2006/main">
              <a:ext uri="{FF2B5EF4-FFF2-40B4-BE49-F238E27FC236}">
                <a16:creationId xmlns:a16="http://schemas.microsoft.com/office/drawing/2014/main" id="{CBB34049-19FC-4C53-9A9C-D2716C16E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5a1a36e3f4a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34244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6FB779CF-82AB-47AC-81F7-85D9D616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24612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should we evaluate rare-event forecasts?</a:t>
            </a:r>
            <a:endParaRPr sz="115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F6FDCE38-0EE2-4759-8991-65F575D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79476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probability scoring, baselines, calibration and regime slices, and be honest about sample size.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8343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B84507-4640-44FA-A6E4-94514C8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C6D06-256B-4992-8BAE-9BA24E88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HIGH-LEVEL APPROACH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9F0637F-95F1-4750-ACB1-CA1DEE8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Our Solution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F090D3A2-F7BB-4A5D-AB6B-E59D239AA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17f7f7f3d4a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7F3B6773-8726-451A-B2A7-1B4F692F4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e0fa014b5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364B891-A9A9-4979-9A46-54376867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BC81E7-CF4C-43E8-B86F-54CB9792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6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B1094C6-1C46-4EF2-872B-FA11076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forecasting workbench that pairs a transparent statistical model with an LLM analyst. The model provides the starting probability; the agent reviews current evidence, explains its view, and can nudge the forecast only within a fixed bound. Every durable change to the agent's strategy is versioned and logged.</a:t>
            </a:r>
            <a:endParaRPr sz="11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972256A-F3EA-4D42-835D-B2226D8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Key Capabilities</a:t>
            </a:r>
            <a:endParaRPr sz="13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0AC3EC1-46A3-49B1-9733-DC80C219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94560"/>
            <a:ext cx="26517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9007CFA-25ED-45EC-8738-6A6E887D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945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72A199C-F9FE-4C07-A353-886C0423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95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A4FB757C-0433-4252-9936-FCAA3D200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33cb2a80a4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" y="25100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C988F8C-8692-4E33-865F-5BBFA6F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numerical anchor</a:t>
            </a:r>
            <a:endParaRPr sz="1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215888-8F8A-4103-B7F1-2C99EC2E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regression refit at each forecast date, using only data released by that date (FRED and Yahoo Finance).</a:t>
            </a:r>
            <a:endParaRPr sz="9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E217DF4B-8DDA-4CC1-B694-A326626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194560"/>
            <a:ext cx="26517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00F81606-6431-4B70-B5CA-63E24C87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1945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CE71B48-D7D8-4476-B10E-B409BDA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95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3">
            <a:extLst xmlns:a="http://schemas.openxmlformats.org/drawingml/2006/main">
              <a:ext uri="{FF2B5EF4-FFF2-40B4-BE49-F238E27FC236}">
                <a16:creationId xmlns:a16="http://schemas.microsoft.com/office/drawing/2014/main" id="{6E07B953-FEC4-4864-AA82-7D7A553982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d3d4c5107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5868" y="25100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B13C5B7-412F-40F8-AE7F-9B433CF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92608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Bounded LLM reasoning</a:t>
            </a:r>
            <a:endParaRPr sz="12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4557F29-95A9-4E95-8075-FD58581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383280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agent returns a probability, rationale, supporting and opposing evidence, and a risk direction. Its change to the anchor is capped at ±0.03.</a:t>
            </a:r>
            <a:endParaRPr sz="95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886DBDBC-9C44-47E4-9274-5D2F1D8C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94560"/>
            <a:ext cx="265176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5F321D1-A4E6-490D-AD16-B852E6D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1945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57103676-A3DB-421C-A118-717057EA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39572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 4">
            <a:extLst xmlns:a="http://schemas.openxmlformats.org/drawingml/2006/main">
              <a:ext uri="{FF2B5EF4-FFF2-40B4-BE49-F238E27FC236}">
                <a16:creationId xmlns:a16="http://schemas.microsoft.com/office/drawing/2014/main" id="{E1031CB2-328D-4781-AADD-5A3AE4BAA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6f793decf4c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3076" y="251002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D92CBA2-9AFA-4F15-B1D9-CB4FA66A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926080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Governed adaptive memory</a:t>
            </a:r>
            <a:endParaRPr sz="12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2EFB9FA3-E2F0-42E1-B0FD-6EF5AC4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383280"/>
            <a:ext cx="2331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record observations and hypotheses. A hypothesis needs 3 confirmations from distinct origins before it changes the strategy; every change is hash-linked.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37335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ARCHITECTURE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How the Workbench Fits Together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4E5E1393-A02D-4A8A-9E85-7FD132A0B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83315f1c0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E1FF1264-AE35-4E0C-ACEE-D7DFDC543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24b233fb1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7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Leakage-safe data</a:t>
            </a:r>
            <a:endParaRPr sz="10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IPMAN, macro and market series, filtered by release date</a:t>
            </a:r>
            <a:endParaRPr sz="8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264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Logistic anchor</a:t>
            </a:r>
            <a:endParaRPr sz="10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Statistical probability (C = 0.001)</a:t>
            </a:r>
            <a:endParaRPr sz="8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agent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Reviews evidence and proposes a probability with rationale</a:t>
            </a:r>
            <a:endParaRPr sz="8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±0.03 guardrail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Final = anchor + bounded adjustment</a:t>
            </a:r>
            <a:endParaRPr sz="8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Forecast record</a:t>
            </a:r>
            <a:endParaRPr sz="10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Scored in backtest with Brier score</a:t>
            </a:r>
            <a:endParaRPr sz="8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5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788920"/>
            <a:ext cx="334670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834640"/>
            <a:ext cx="31638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memory (enabled for the adaptive agent)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Typed tools save observations and hypotheses to a versioned state that later prompts read. Every change writes a redacted audit event with before/after hashes.</a:t>
            </a:r>
            <a:endParaRPr sz="10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the agent CAN change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Its proposed probability (within ±0.03) and the prompt-level strategy it reads next time.</a:t>
            </a:r>
            <a:endParaRPr sz="9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it CANNOT change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Data, features, target, model parameters or the anchor code. No retraining happens through the agent.</a:t>
            </a:r>
            <a:endParaRPr sz="9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Observability</a:t>
            </a:r>
            <a:endParaRPr sz="105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Optional Langfuse traces for each call, plus a local redacted audit log of strategy changes.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4D478B-D3A2-488B-9C13-11B434C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16737F-969C-4A23-A083-9C327629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DATA, MODELS AND EVALUATION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9FA33F-0FE1-4CA9-8B15-57103FC3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Technical Approach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23324BDD-E678-4C38-B37A-8C1BAC95B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596524d2c4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C253C7D2-6EC1-4763-A6A2-F04D3D5D3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efe49438c45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40F192F-B168-4404-BD01-46EC329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E71433F-8C0F-46D6-A605-E7BFAD1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8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4380B9E-52AF-4253-80ED-C5807AD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 &amp; Models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62F5A64-9075-4C01-8DF3-AB7F611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40233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Dataset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monthly inputs from public sources: IPMAN 1/3/6-month changes; Fed funds, 10y-2y spread, CPI, unemployment, jobless claims, VIX, Baa credit spread (FRED); SPY and XLI 3/12-month returns (Yahoo Finance).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Leakage control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forecast only sees data released by its date. IPMAN uses a conservative 1-month release lag.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400">
                <a:solidFill>
                  <a:srgbClr val="1F2937"/>
                </a:solidFill>
                <a:latin typeface="Arial"/>
                <a:ea typeface="Arial"/>
                <a:cs typeface="Arial"/>
              </a:rPr>
              <a:t> 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Models compared (7)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(baseline), logistic regression, XGBoost, hybrid anchor, LLM analyst agent, hybrid agent and adaptive agent.</a:t>
            </a:r>
            <a:endParaRPr sz="9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D68BB4B-7F0A-4A46-8D9C-49C98D7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058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Experiments &amp; Evaluation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642D76D-8B35-4496-BD7B-0A3DABDB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081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E45218F-0CAC-451C-823B-860B0D8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081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C2D61B-33DF-463A-918D-1039A03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716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Parameter sweep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15 candidates, 3 chronological folds (2000-2017)</a:t>
            </a:r>
            <a:endParaRPr sz="9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ED15E04-34AE-4BD4-941A-71CA00C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653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D65C5C1-9B4F-4FBA-9D8E-0721321E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653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BC1E2C4-4134-4C21-90B9-23076C9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2018-2024 diagnostic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Sweep candidates re-scored on an already-inspected window</a:t>
            </a:r>
            <a:endParaRPr sz="9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7609D78-D062-4121-A018-0F3E08E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225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4D4E032-575A-442D-A5E5-9DCA4D1D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225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9A0CF46-6E69-4EAB-A09E-70E43FA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2860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All-model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7 models, 84 monthly origins (2018-2024), 6 stress events</a:t>
            </a:r>
            <a:endParaRPr sz="9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A4BCB73-0FD7-459A-B39E-AA2D508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797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8BFB9FC-CFA9-4210-B78D-2C6C76F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797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D97E3B9-74A6-4DC0-8D1C-F059124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7432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model choice comparison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Gemini Lite vs Gemini Advanced, read-only, same 84 origins</a:t>
            </a:r>
            <a:endParaRPr sz="9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898936E-ED18-400A-8FCA-2000B614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3697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924890E-209F-4F0C-9E99-2E6CB4CE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3697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FA62B2F-3701-480C-AFEC-81D48160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00400"/>
            <a:ext cx="3703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demo  </a:t>
            </a: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full hypothesis lifecycle with audited memory changes</a:t>
            </a:r>
            <a:endParaRPr sz="9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F193712-E5A4-47DF-9E0A-FDA3E436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49040"/>
            <a:ext cx="4114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E6F2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E88831B-43DE-4863-BB97-DBDAB10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776472"/>
            <a:ext cx="3931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Evaluation metrics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Brier score = mean of (forecast probability - actual 0/1)². Lower is better. Brier skill = 1 - model score / baseline score; positive means better than the historical base rate. Plus calibration and regime slices.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99719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AABB04-5F24-4388-9378-EEACA872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69E9BC-255C-41BF-B1F2-66CFE162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DATA UNDERSTANDING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ACB1F6-BC71-4574-8ECC-37257619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the Data Told Us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123AEBBC-7432-4970-B3AF-E076C34E5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ee5bb5a39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61147D15-CB70-4F07-A93C-D1BBB0C02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c935a5d72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16284B6-152E-4081-9A28-5BC931E1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5EBC001-90BC-49F8-874B-7D407651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9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A5E6A6E-79EB-48BE-9A35-D4CE718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Correlation with the stress label (same month)</a:t>
            </a:r>
            <a:endParaRPr sz="110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F1CFB9F-F328-40A6-A3C9-170269B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11880"/>
            <a:ext cx="4206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All six signs held under bootstrap and leave-one-out checks.</a:t>
            </a:r>
            <a:endParaRPr sz="8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76D5EF5-9A6C-4BA6-80B6-A97CDA82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058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Stress months look very different...</a:t>
            </a:r>
            <a:endParaRPr sz="1100"/>
          </a:p>
        </p:txBody>
      </p:sp>
      <p:graphicFrame>
        <p:nvGraphicFramePr>
          <p:cNvPr id="13" name="Table 0">
            <a:extLst xmlns:a="http://schemas.openxmlformats.org/drawingml/2006/main">
              <a:ext uri="{FF2B5EF4-FFF2-40B4-BE49-F238E27FC236}">
                <a16:creationId xmlns:a16="http://schemas.microsoft.com/office/drawing/2014/main" id="{FAA6A50C-A7D7-4C5A-A153-00A24D7EB534}"/>
              </a:ext>
            </a:extLst>
          </p:cNvPr>
          <p:cNvGraphicFramePr/>
          <p:nvPr/>
        </p:nvGraphicFramePr>
        <p:xfrm>
          <a:off xmlns:a="http://schemas.openxmlformats.org/drawingml/2006/main" x="4846320" y="1325880"/>
          <a:ext xmlns:a="http://schemas.openxmlformats.org/drawingml/2006/main" cx="3931920" cy="137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 (average)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Normal months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Stress months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VIX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18.8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35.3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Credit spread (pp)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2.34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4.04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Unemployment (%)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5.5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7.7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XLI 12m return (%)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+12.9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ED1C24"/>
                          </a:solidFill>
                          <a:latin typeface="Arial"/>
                          <a:ea typeface="Arial"/>
                          <a:cs typeface="Arial"/>
                        </a:rPr>
                        <a:t>-22.6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CA09D62F-123E-4C90-B926-EBF9BA5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26080"/>
            <a:ext cx="393192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8F9A4A61-CBE2-441F-B59A-BF6DAAAC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99232"/>
            <a:ext cx="37033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...but mostly at the same time, not before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Lagged correlations peak near zero lag: stress signals are largely coincident, not leading. That is the core reason a 3-month-ahead forecast is hard, whichever model is used.</a:t>
            </a:r>
            <a:endParaRPr sz="1100"/>
          </a:p>
        </p:txBody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04A35EBF-246F-4919-979A-6156047E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31920"/>
            <a:ext cx="4206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E6F2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8672BF70-38B6-468B-BCBF-263304DE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3959352"/>
            <a:ext cx="4023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A2240"/>
                </a:solidFill>
                <a:latin typeface="Arial"/>
                <a:ea typeface="Arial"/>
                <a:cs typeface="Arial"/>
              </a:rPr>
              <a:t>Data quality: no missing values in any series. Market series start in 1998-99, so the modelling window is 2000 onward (320 months, 20 stress months).</a:t>
            </a:r>
            <a:endParaRPr sz="900"/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E9D4E-93EB-4160-8FD4-4451B5E96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dd6037f5d4971"/>
          <a:srcRect xmlns:a="http://schemas.openxmlformats.org/drawingml/2006/main" l="3500" t="24889" r="49500" b="30667"/>
          <a:stretch xmlns:a="http://schemas.openxmlformats.org/drawingml/2006/main"/>
        </p:blipFill>
        <p:spPr>
          <a:xfrm xmlns:a="http://schemas.openxmlformats.org/drawingml/2006/main">
            <a:off x="320040" y="1280160"/>
            <a:ext cx="4297680" cy="228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7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551695-97D3-4E18-B5F6-AC0EC1C9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954C88-43EA-42C4-910D-ECB2B00D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PARAMETER SWEEP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464E6B-986E-4096-95B9-B831ED9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1: The Tuning Winner Did Not Hold Up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9311FC62-DA3E-437A-A47E-7E25D98C7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8300599434b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7953C178-174B-4C02-9E9B-D1753B6DF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9af4791dd49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B012A1-6273-494A-8DB5-EDA768D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F51C387-1F54-41E8-A4D2-A2D61BD3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10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2B5B6735-6A57-4859-84A0-84AD0EE6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51560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1st → last</a:t>
            </a:r>
            <a:endParaRPr sz="280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5DD5F0C-B3BE-4B52-8E45-829C8706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81912"/>
            <a:ext cx="3108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Logistic C=1.0 ranked first in tuning (+28.8% skill) and last on 2018-2024 (-554% skill).</a:t>
            </a:r>
            <a:endParaRPr sz="9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D5EBAAF-590E-4FAE-B282-7AAABE59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3108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Only 5 stress events in the tuning period, all in one fold (2006-2011).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No XGBoost setting beat the baseline in tuning; extra regularization did not help.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Lesson: with rare events, tuning can reward confident models that happen to fit one episode.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Action: we froze conservative choices (logistic C=0.001, regularized XGBoost) and did not retune on 2018-2024.</a:t>
            </a:r>
            <a:endParaRPr sz="950"/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17121-FE81-4245-A43A-15CD5413F6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5b78200cd46f0"/>
          <a:srcRect xmlns:a="http://schemas.openxmlformats.org/drawingml/2006/main" l="3500" t="19556" r="40500" b="10222"/>
          <a:stretch xmlns:a="http://schemas.openxmlformats.org/drawingml/2006/main"/>
        </p:blipFill>
        <p:spPr>
          <a:xfrm xmlns:a="http://schemas.openxmlformats.org/drawingml/2006/main">
            <a:off x="320040" y="1005840"/>
            <a:ext cx="5120640" cy="3611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17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ALL-MODEL COMPARISON, 84 ORIGINS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2: No Model Beat the Base Rate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B78A669D-6EA2-4D7A-A688-C87061745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5132bba6d4f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3EB9C12C-BA25-4FC7-A095-3EB799E9B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0ab5b069a4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11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434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2018-01 to 2024-12 origins; 6 stress events (7.1%).</a:t>
            </a:r>
            <a:endParaRPr sz="8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-3.8%</a:t>
            </a:r>
            <a:endParaRPr sz="28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Adaptive agent skill vs baseline</a:t>
            </a:r>
            <a:endParaRPr sz="9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-46.8%</a:t>
            </a:r>
            <a:endParaRPr sz="28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Unbounded LLM analyst skill vs baseline</a:t>
            </a:r>
            <a:endParaRPr sz="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3108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base rate won because events were rare and signals were coincident.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Agents tied to the anchor stayed close to it; the free-standing analyst was much worse.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Blending logistic with XGBoost never helped: the best of 11 tested weights was 100% logistic.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Six events is too few to call any gap statistically meaningful.</a:t>
            </a:r>
            <a:endParaRPr sz="950"/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DB41F-6FE5-4667-9D66-CE5ECB7A6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16f1c6f4a425e"/>
          <a:srcRect xmlns:a="http://schemas.openxmlformats.org/drawingml/2006/main" l="3500" t="19556" r="40500" b="16444"/>
          <a:stretch xmlns:a="http://schemas.openxmlformats.org/drawingml/2006/main"/>
        </p:blipFill>
        <p:spPr>
          <a:xfrm xmlns:a="http://schemas.openxmlformats.org/drawingml/2006/main">
            <a:off x="320040" y="1005840"/>
            <a:ext cx="5120640" cy="3291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B49B58-D374-4560-BF84-F4A8F53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50DA66-3499-4E62-B42E-73CA1155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FORECASTS VS OUTCOMES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7CC546-AAD9-4F90-AAE2-CC0ADEB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3: Models Reacted Too Late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CE25F782-BD9B-4F1B-BE94-6954C7541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5239b6ade44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8AB3AA91-CB0D-4478-B1D8-4C4001738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3e2ade8634a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8987E84-6A71-404E-AC8D-8AC89E15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2831FDE-C910-49F4-ACC8-81ED5CEE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12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FD7BE929-8C9D-4E3E-8C77-4883EB6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2628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X-axis: forecast origin (monthly, 2018-2024). Grey line = actual outcome at the forecast date.</a:t>
            </a:r>
            <a:endParaRPr sz="800"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528D1B12-CA53-401B-9850-FBC12EF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05840"/>
            <a:ext cx="278892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60A9FD13-FA22-421A-A2F0-91951C9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05840"/>
            <a:ext cx="54864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DC65BEB-EB20-45BF-B54D-1913B4C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09728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All 6 stress events were missed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4EF8E5F-DFC5-489A-A9D7-D1F76563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89888"/>
            <a:ext cx="2514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At the origins that preceded actual stress, the anchor and adaptive agent forecast 0.05-0.11 and the analyst 0.08-0.28.</a:t>
            </a:r>
            <a:endParaRPr sz="93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F4EC4DD9-3EF1-4818-8DD2-EEE69521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926080"/>
            <a:ext cx="278892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43D2F87-2F34-463C-AC39-5982316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926080"/>
            <a:ext cx="54864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3C587696-034E-4552-BA81-A55A72B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017520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Peaks came too late</a:t>
            </a:r>
            <a:endParaRPr sz="11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E4AC485-0CEA-40E2-B2E0-D40F0042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310128"/>
            <a:ext cx="2514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Probabilities spiked at Apr-Jun 2020 origins, after the COVID drop was visible. By the forecast date production was recovering, so the outcome was 0.</a:t>
            </a:r>
            <a:endParaRPr sz="930"/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09A94-BE5F-41A6-B402-AEDFC0F4B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396510d564dda"/>
          <a:srcRect xmlns:a="http://schemas.openxmlformats.org/drawingml/2006/main" l="3500" t="18667" r="35500" b="12889"/>
          <a:stretch xmlns:a="http://schemas.openxmlformats.org/drawingml/2006/main"/>
        </p:blipFill>
        <p:spPr>
          <a:xfrm xmlns:a="http://schemas.openxmlformats.org/drawingml/2006/main">
            <a:off x="320040" y="960120"/>
            <a:ext cx="5577840" cy="35204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1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7715A4-4D0F-4F17-8E52-ED5D98EA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5D65AF-C5DD-446C-89AD-8C63CC9D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BOUNDED AGENT ADJUSTMENTS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C7A0D5-F753-48BA-9DDC-A96595A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4: The Guardrail Did Its Job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EAB33FEE-CD87-41E2-A151-C0FFA228A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af71994ae4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2C23E0E8-50D7-4202-87DD-9E0EC89EF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044055ee64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15E6B2D-5288-4029-9BBE-DE8B33C9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EF8B3F8-D1FF-44AD-8F8F-5D2A9B2A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13</a:t>
            </a:r>
            <a:endParaRPr sz="750"/>
          </a:p>
        </p:txBody>
      </p:sp>
      <p:pic>
        <p:nvPicPr>
          <p:cNvPr id="9" name="Image 2">
            <a:extLst xmlns:a="http://schemas.openxmlformats.org/drawingml/2006/main">
              <a:ext uri="{FF2B5EF4-FFF2-40B4-BE49-F238E27FC236}">
                <a16:creationId xmlns:a16="http://schemas.microsoft.com/office/drawing/2014/main" id="{2D6A4910-99AB-45CE-B33E-2C5AFFFCE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388bd6ec1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" y="960120"/>
            <a:ext cx="5120640" cy="2987873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B13ED7C2-57F4-40F6-8DF6-B79EA35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2336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Top: logistic anchor vs adaptive agent final probability. Bottom: applied adjustment per origin (capped at ±0.03).</a:t>
            </a:r>
            <a:endParaRPr sz="8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403966F7-D146-4696-A925-250E6D8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6012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8A317"/>
                </a:solidFill>
                <a:latin typeface="Arial"/>
                <a:ea typeface="Arial"/>
                <a:cs typeface="Arial"/>
              </a:rPr>
              <a:t>0.094</a:t>
            </a:r>
            <a:endParaRPr sz="28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AECD003-AAB8-49ED-971C-3DDF737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9047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Average agent proposal</a:t>
            </a:r>
            <a:endParaRPr sz="9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CC8E606-124D-45EF-97D3-1F8CD69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96012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0.071</a:t>
            </a:r>
            <a:endParaRPr sz="28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9C05B8A-EC5D-4EF4-8F72-20046EDF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9047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Average anchor</a:t>
            </a:r>
            <a:endParaRPr sz="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C139429-C8D5-492C-AD17-A5F7B6A8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960120"/>
            <a:ext cx="1005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0.072</a:t>
            </a:r>
            <a:endParaRPr sz="2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68847D0-49A6-47D2-8009-69869CCC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9047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Average final forecast</a:t>
            </a:r>
            <a:endParaRPr sz="9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F054E80-E6C7-4653-B43D-E0F3043E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03120"/>
            <a:ext cx="310896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adaptive agent ran with memory updates enabled.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It wanted higher probabilities on average; the ±0.03 cap kept the final close to the anchor.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7 of 84 proposals hit the cap, including Apr-Jun 2020 when the agent proposed up to 0.85.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26 adjustments up, 58 down. Bounded agents: -3.8% to -6.0% skill vs -46.8% for the unbounded analyst.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47161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75C4BA-8405-4251-8C14-4852EF89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42259B-CC28-4D44-8D69-92DC302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LLM MODEL CHOICE (READ-ONLY)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CE9F3D-615D-4B80-9DCF-E7791DF1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5: A Stronger LLM Overreacted Less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FC7DCDAA-6D24-4B0A-A223-8AFAE6862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aaf937d5649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AA4D6DCA-DE63-45AE-9B2B-FB307480B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2590066894a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9AFD8CD-990A-4B06-8073-8BE77F53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06FB874-1AA7-4B0C-83EF-6BA54E8E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14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FF6E7A07-A09E-4BA6-8E24-7E925F3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605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Brier, 84 paired origins, memory updates disabled. Separate experiment from the 7-model comparison.</a:t>
            </a:r>
            <a:endParaRPr sz="80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D0FBF6FD-508B-4D88-A837-34BF2A87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0584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Where the gap came from</a:t>
            </a:r>
            <a:endParaRPr sz="1100"/>
          </a:p>
        </p:txBody>
      </p:sp>
      <p:graphicFrame>
        <p:nvGraphicFramePr>
          <p:cNvPr id="15" name="Table 0">
            <a:extLst xmlns:a="http://schemas.openxmlformats.org/drawingml/2006/main">
              <a:ext uri="{FF2B5EF4-FFF2-40B4-BE49-F238E27FC236}">
                <a16:creationId xmlns:a16="http://schemas.microsoft.com/office/drawing/2014/main" id="{0F0FC2E2-B256-4743-8FD7-AAB558593A2B}"/>
              </a:ext>
            </a:extLst>
          </p:cNvPr>
          <p:cNvGraphicFramePr/>
          <p:nvPr/>
        </p:nvGraphicFramePr>
        <p:xfrm>
          <a:off xmlns:a="http://schemas.openxmlformats.org/drawingml/2006/main" x="3886200" y="1325880"/>
          <a:ext xmlns:a="http://schemas.openxmlformats.org/drawingml/2006/main" cx="2743200" cy="10241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548640"/>
                <a:gridCol w="777240"/>
                <a:gridCol w="73152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Lite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Advanced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0A22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2020-04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0.65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2020-05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0.85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0.15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5F8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2020-06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0.85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0.12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6DEE8"/>
                      </a:solidFill>
                      <a:prstDash val="solid"/>
                    </a:lnL>
                    <a:lnR w="6350" cmpd="sng">
                      <a:solidFill>
                        <a:srgbClr val="D6DEE8"/>
                      </a:solidFill>
                      <a:prstDash val="solid"/>
                    </a:lnR>
                    <a:lnT w="6350" cmpd="sng">
                      <a:solidFill>
                        <a:srgbClr val="D6DEE8"/>
                      </a:solidFill>
                      <a:prstDash val="solid"/>
                    </a:lnT>
                    <a:lnB w="6350" cmpd="sng">
                      <a:solidFill>
                        <a:srgbClr val="D6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66C9F0B8-1DEE-47F9-A3C2-FD7F83D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280160"/>
            <a:ext cx="2011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~98%</a:t>
            </a:r>
            <a:endParaRPr sz="280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67C0C65B-EBAB-4E8C-9CDD-C7DC956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1051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of the 0.0197 Brier gap came from these 3 post-COVID origins</a:t>
            </a:r>
            <a:endParaRPr sz="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41C2BE2-B891-4445-B4F4-A60C8988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4892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Gemini Advanced was not better at spotting stress: both models missed all 6 events.</a:t>
            </a:r>
            <a:endParaRPr sz="930"/>
          </a:p>
          <a:p xmlns:a="http://schemas.openxmlformats.org/drawingml/2006/main"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It was more willing to expect a rebound after the April 2020 trough.</a:t>
            </a:r>
            <a:endParaRPr sz="930"/>
          </a:p>
          <a:p xmlns:a="http://schemas.openxmlformats.org/drawingml/2006/main"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Risk directions agreed on only 50 of 84 origins (59.5%).</a:t>
            </a:r>
            <a:endParaRPr sz="930"/>
          </a:p>
          <a:p xmlns:a="http://schemas.openxmlformats.org/drawingml/2006/main">
            <a:pPr marL="152400" indent="-152400">
              <a:spcAft>
                <a:spcPts val="400"/>
              </a:spcAft>
              <a:buSzPct val="100000"/>
              <a:buChar char="•"/>
            </a:pPr>
            <a:r>
              <a:rPr sz="930">
                <a:solidFill>
                  <a:srgbClr val="1F2937"/>
                </a:solidFill>
                <a:latin typeface="Arial"/>
                <a:ea typeface="Arial"/>
                <a:cs typeface="Arial"/>
              </a:rPr>
              <a:t>Rationales sometimes quoted inconsistent inputs for the same month (e.g., 3-month IPMAN -4.05% vs -0.04% in Aug 2018); root cause still to be investigated.</a:t>
            </a:r>
            <a:endParaRPr sz="930"/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C2AC7-DB56-4344-8700-5DA2BC419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1a0b4617442ca"/>
          <a:srcRect xmlns:a="http://schemas.openxmlformats.org/drawingml/2006/main" l="3500" t="19556" r="60500" b="20000"/>
          <a:stretch xmlns:a="http://schemas.openxmlformats.org/drawingml/2006/main"/>
        </p:blipFill>
        <p:spPr>
          <a:xfrm xmlns:a="http://schemas.openxmlformats.org/drawingml/2006/main">
            <a:off x="320040" y="1005840"/>
            <a:ext cx="3291840" cy="3108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017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86248B-43C7-4169-957B-2BBA7CC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7AFF03-988F-4AFE-BE74-A49C7DC5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GOVERNANCE DEMONSTRATION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51E1ADA-26B3-414B-88A0-268C34F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6: Auditable Memory Works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6AEE8607-5E9D-4CAE-84EB-5CDAED0446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7db7cf470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015A314A-F484-4531-91A4-61CF38D02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d65e470514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61DEC25-A968-4EFD-B2B0-19D39DBB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09390DA-DA78-4A8F-98E0-B7DC58A0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15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F8A2B71-4772-4BBA-A76D-400FEF55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51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A47ADE7-A75F-4BF5-BF9B-05217BB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51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3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9358E24-205B-4225-B24A-AF1FC40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28016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F29CBBC-EBEA-41D9-831A-7E076FDA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Open</a:t>
            </a:r>
            <a:endParaRPr sz="10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A3A5D0C-3C65-4AC7-B5D6-A76F0380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0136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hyp-001 + initial evidence</a:t>
            </a:r>
            <a:endParaRPr sz="8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D7E9584-E155-4854-AE23-33F7E9B1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051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275FE43-3941-4F01-8D75-FBDFA51F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051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3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35D6B34-21B1-4F24-91C6-57164F6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8016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72C41C-EFF5-475C-92BF-20220900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7276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Observe</a:t>
            </a:r>
            <a:endParaRPr sz="10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2EC2557-5068-4531-AFD4-5D8A6F47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136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3 observations</a:t>
            </a:r>
            <a:endParaRPr sz="8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609CBA8-6D05-471F-96A9-FD2FB45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51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B2647E1-0638-4301-A145-8F9856C5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51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3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9D9084E-E78F-4588-B7A5-BD2F5DA4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28016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DEF7AAB-0665-48A3-B6BF-2A930811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57276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Confirm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0C32615-E6BF-4258-B23F-FB0A88B1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80136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3 distinct origins</a:t>
            </a:r>
            <a:endParaRPr sz="8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A7BFB276-9BD0-4831-86B6-D524106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51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26BEDE7-3BE8-4526-B0BC-612B6E2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051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3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AB647B-7711-4F2F-BFE0-4AFCBC90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28016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D044B92-3140-43C1-8153-F643A9AF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7276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Gate</a:t>
            </a:r>
            <a:endParaRPr sz="105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16A35C1-5701-4957-95D3-CAE7448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0136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≥3 confirmations?</a:t>
            </a:r>
            <a:endParaRPr sz="8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A343C43-E656-4030-BED5-C3DCA16B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51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71957013-4590-4518-BCED-5D1F2FE3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51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3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61E3A88C-4980-410B-A312-786C714A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28016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2A1990F-566C-4A32-A73B-4A77008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7276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Graduate</a:t>
            </a:r>
            <a:endParaRPr sz="10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67161DC-5007-47A1-BB23-55D6C5F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0136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Calibration correction</a:t>
            </a:r>
            <a:endParaRPr sz="8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A092E07-232C-4330-A9D0-235FAC0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051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9F6A6CA2-F658-49E2-B865-8E206A95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051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3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DA26BC47-9717-49F2-97B8-77B1E66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7276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Update</a:t>
            </a:r>
            <a:endParaRPr sz="105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A6870E04-0D22-4B4A-9B40-4EACDCC7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80136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Approach narrative</a:t>
            </a:r>
            <a:endParaRPr sz="850"/>
          </a:p>
        </p:txBody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740EACAC-3696-4BD3-AB4F-FF8039E9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377440"/>
            <a:ext cx="21031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A76CC59B-E969-466A-99DF-7D1DE93F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377440"/>
            <a:ext cx="54864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27458C9C-33D4-445A-B8AA-761C09E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it shows</a:t>
            </a:r>
            <a:endParaRPr sz="1100"/>
          </a:p>
        </p:txBody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E4DD18F8-B34D-43CE-9B82-C63FF7B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761488"/>
            <a:ext cx="1828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change has a timestamp, tool, version and before/after hash. The gate stopped a hypothesis from becoming guidance until 3 confirmations were recorded. Example outcome: adjust anchor 0.066 to 0.060.</a:t>
            </a:r>
            <a:endParaRPr sz="900"/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978D02-0A42-4E65-AF3F-4414CF4B69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8a121316c4b6d"/>
          <a:srcRect xmlns:a="http://schemas.openxmlformats.org/drawingml/2006/main" l="3500" t="45333" r="52500" b="9333"/>
          <a:stretch xmlns:a="http://schemas.openxmlformats.org/drawingml/2006/main"/>
        </p:blipFill>
        <p:spPr>
          <a:xfrm xmlns:a="http://schemas.openxmlformats.org/drawingml/2006/main">
            <a:off x="320040" y="2331720"/>
            <a:ext cx="4023360" cy="23317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188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F8C7AA-0E85-4A7F-A0E2-4A97756B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8C3D73-1616-4A2C-9028-7255DF6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DISCUSSION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2149B9-B222-4F77-8E62-377CE7D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Challenges and How We Addressed Them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12D7C38A-05BF-40EF-B371-423E67173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487fdcc9e4b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AC335355-8DF3-4DFA-8A90-E29C94B65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0d76a38cb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2A53877-DD12-4E23-84F8-2FD9A49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D281E74-1F40-468A-BE7F-18D4C6FE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16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310CECC3-5267-437D-8B98-325F9F0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069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EB6DBB5-D413-454B-8E05-1FCCF80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615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Image 2">
            <a:extLst xmlns:a="http://schemas.openxmlformats.org/drawingml/2006/main">
              <a:ext uri="{FF2B5EF4-FFF2-40B4-BE49-F238E27FC236}">
                <a16:creationId xmlns:a16="http://schemas.microsoft.com/office/drawing/2014/main" id="{E1CA02BA-E09D-41B6-8056-0ED403EBE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ed169eb90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" y="1319022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C7DAC7F7-FE1B-4E59-A173-91901D9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14300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Rare events (6 in the 84-origin backtest)</a:t>
            </a:r>
            <a:endParaRPr sz="105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DBBAA3E-3675-427E-BD85-A1A908DA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6304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Scored against a base-rate benchmark, used chronological folds, and avoided claims of statistical significance.</a:t>
            </a:r>
            <a:endParaRPr sz="9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8EC4BB54-B656-4094-AD07-D0D4B0D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51560"/>
            <a:ext cx="4069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C1F8123A-E8A2-457A-BDDE-FBBEB6A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1615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" name="Image 3">
            <a:extLst xmlns:a="http://schemas.openxmlformats.org/drawingml/2006/main">
              <a:ext uri="{FF2B5EF4-FFF2-40B4-BE49-F238E27FC236}">
                <a16:creationId xmlns:a16="http://schemas.microsoft.com/office/drawing/2014/main" id="{377B9755-F426-400B-8E08-FF914DEA7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b5d666e214b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19022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B0C118E-DA24-4468-A024-EFB22634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14300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Look-ahead leakage</a:t>
            </a:r>
            <a:endParaRPr sz="105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96C4E26B-A9CA-4989-AAEB-D313DEA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46304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Filtered every input by release date; applied a 1-month lag to IPMAN; audited what was visible at the latest origin.</a:t>
            </a:r>
            <a:endParaRPr sz="90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959407F4-7CAF-4F0A-8F9B-3829C114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86000"/>
            <a:ext cx="4069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39559859-E370-4295-8F34-85CEE5F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4">
            <a:extLst xmlns:a="http://schemas.openxmlformats.org/drawingml/2006/main">
              <a:ext uri="{FF2B5EF4-FFF2-40B4-BE49-F238E27FC236}">
                <a16:creationId xmlns:a16="http://schemas.microsoft.com/office/drawing/2014/main" id="{196DB5CE-E333-423F-BE53-170C7C54E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8bad1d117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" y="2553462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20869E56-2EC7-48E8-B83B-DDD0A55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7744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Overfitting during tuning</a:t>
            </a:r>
            <a:endParaRPr sz="105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26D3C63D-41EF-4880-8822-2E119FFD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Froze conservative settings and did not retune on the inspected 2018-2024 window.</a:t>
            </a:r>
            <a:endParaRPr sz="90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6EF58760-7CB1-49D5-88B7-B6681B9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86000"/>
            <a:ext cx="4069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283B5C25-D649-4895-8D7D-3677F10D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5059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 5">
            <a:extLst xmlns:a="http://schemas.openxmlformats.org/drawingml/2006/main">
              <a:ext uri="{FF2B5EF4-FFF2-40B4-BE49-F238E27FC236}">
                <a16:creationId xmlns:a16="http://schemas.microsoft.com/office/drawing/2014/main" id="{BF03949D-C966-4472-89A6-2F0C7BD13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70b5fd17b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553462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F2A61880-AE14-493A-8DEE-5E2AA220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7744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LLM overconfidence</a:t>
            </a:r>
            <a:endParaRPr sz="1050"/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E9489443-408D-40DD-8F50-EE34C921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69748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Anchored agents to the logistic model and capped adjustments at ±0.03.</a:t>
            </a:r>
            <a:endParaRPr sz="900"/>
          </a:p>
        </p:txBody>
      </p:sp>
      <p:sp>
        <p:nvSpPr>
          <p:cNvPr id="29" name="Shape 21">
            <a:extLst xmlns:a="http://schemas.openxmlformats.org/drawingml/2006/main">
              <a:ext uri="{FF2B5EF4-FFF2-40B4-BE49-F238E27FC236}">
                <a16:creationId xmlns:a16="http://schemas.microsoft.com/office/drawing/2014/main" id="{D185804F-4FEA-4B18-A983-8AF0038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20440"/>
            <a:ext cx="4069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EDFEFF02-F99A-4DED-A734-7FB8C377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850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1" name="Image 6">
            <a:extLst xmlns:a="http://schemas.openxmlformats.org/drawingml/2006/main">
              <a:ext uri="{FF2B5EF4-FFF2-40B4-BE49-F238E27FC236}">
                <a16:creationId xmlns:a16="http://schemas.microsoft.com/office/drawing/2014/main" id="{FB9799FA-3C9A-43EF-9073-2AF765D11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aa9d6de5e44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" y="3787902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1C36FB66-D0F2-43D2-8295-E154486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Unreliable explanations</a:t>
            </a:r>
            <a:endParaRPr sz="1050"/>
          </a:p>
        </p:txBody>
      </p:sp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1F19A2B2-AD0E-4381-B3A2-DE1E59C6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3192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Logged rationale and evidence per forecast; flagged inconsistent quoted values for follow-up.</a:t>
            </a:r>
            <a:endParaRPr sz="900"/>
          </a:p>
        </p:txBody>
      </p:sp>
      <p:sp>
        <p:nvSpPr>
          <p:cNvPr id="34" name="Shape 25">
            <a:extLst xmlns:a="http://schemas.openxmlformats.org/drawingml/2006/main">
              <a:ext uri="{FF2B5EF4-FFF2-40B4-BE49-F238E27FC236}">
                <a16:creationId xmlns:a16="http://schemas.microsoft.com/office/drawing/2014/main" id="{6F1F0593-E8B0-4DC0-872E-606BD26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20440"/>
            <a:ext cx="4069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26">
            <a:extLst xmlns:a="http://schemas.openxmlformats.org/drawingml/2006/main">
              <a:ext uri="{FF2B5EF4-FFF2-40B4-BE49-F238E27FC236}">
                <a16:creationId xmlns:a16="http://schemas.microsoft.com/office/drawing/2014/main" id="{0BC14FA1-F6CA-47A1-AE33-F0A3F21D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850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Image 7">
            <a:extLst xmlns:a="http://schemas.openxmlformats.org/drawingml/2006/main">
              <a:ext uri="{FF2B5EF4-FFF2-40B4-BE49-F238E27FC236}">
                <a16:creationId xmlns:a16="http://schemas.microsoft.com/office/drawing/2014/main" id="{32BB9627-8846-461F-8F04-AF64C124F7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d247c6c3f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3787902"/>
            <a:ext cx="205740" cy="205740"/>
          </a:xfrm>
          <a:prstGeom xmlns:a="http://schemas.openxmlformats.org/drawingml/2006/main" prst="rect">
            <a:avLst/>
          </a:prstGeom>
        </p:spPr>
      </p:pic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D7ABFF24-A031-4098-BAA8-6AF969F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61188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Reproducibility and cost</a:t>
            </a:r>
            <a:endParaRPr sz="1050"/>
          </a:p>
        </p:txBody>
      </p:sp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5D79D207-19BA-428A-87B8-A9723118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3192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Cached agent runs; report builds make zero LLM calls and reproduce every chart from saved tables.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24189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2F66D9-D7EF-45F2-A69B-3A3CC14B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7DFBC4-E1DE-4DDE-89B8-F16DDAE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WHAT WE TAKE AWAY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5A8F54-B40E-4185-B830-C75F303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Key Learnings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FF5A92A8-157F-4F88-8B00-FB41E98F0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2f12d235740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491C814E-2F07-44A9-B328-E769B22B9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6d6ff82c344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1FD3DEC-DA04-46E1-BEAB-E3D6F9E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E8F4D13-8BAE-4F03-9AB2-7BF54187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17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202FE3D-308D-40D5-A510-B893A04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01</a:t>
            </a:r>
            <a:endParaRPr sz="26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A7AEB2B-199A-4006-86B6-E89864D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2412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Start with the base rate</a:t>
            </a:r>
            <a:endParaRPr sz="12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FFE0640-8CFB-44D5-9AF4-9B44EEC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02412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For rare events, a simple historical frequency is a demanding benchmark. Beat it before adding complexity.</a:t>
            </a:r>
            <a:endParaRPr sz="1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7A8DAAF-A90E-4533-AE4E-8D014C2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8249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8970FB4-FD73-4088-8CF2-47F77589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5564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02</a:t>
            </a:r>
            <a:endParaRPr sz="26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3EF5CFF-0532-40C0-9B9B-ACBD6B57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564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Anchor and bound the LLM</a:t>
            </a:r>
            <a:endParaRPr sz="12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46E2315-C581-4238-A2EA-48839BBC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75564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Unbounded LLM probabilities overreacted. A statistical anchor plus a small cap kept agents close to sound forecasts.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1CC137A-3D5C-4C12-800D-D8D784D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401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31A4ED2-4D6F-4C18-B8AE-6D0EB893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03</a:t>
            </a:r>
            <a:endParaRPr sz="26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07E62FA-11FF-4D61-9AEE-1C4A1192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8716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Signals matter more than models</a:t>
            </a:r>
            <a:endParaRPr sz="12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3744094-BFC5-4AD0-BD81-C2A515C5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48716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inputs describe stress as it happens. Better leading indicators will matter more than a bigger model.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9C34E6D-6BAA-4BE8-B31D-C789073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553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404BCC4-2861-43CD-A82E-CEA43468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1868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04</a:t>
            </a:r>
            <a:endParaRPr sz="26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D2654AA-EFED-4C63-A3BF-C5E5FFDB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868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Governance can come first</a:t>
            </a:r>
            <a:endParaRPr sz="12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5E53476-133B-4E26-BD2E-3DCFDCBA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21868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Versioned memory, gated updates and audit logs can be built before accuracy is proven and make later evaluation credible.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96F320B2-1EDD-4AEA-ADEC-D6FC9BB1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705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EF9F2BF-C779-419F-A90A-08FD4A4A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5020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05</a:t>
            </a:r>
            <a:endParaRPr sz="26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50ADF20-2F72-461B-945E-18A45715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020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Be careful with explanations</a:t>
            </a:r>
            <a:endParaRPr sz="12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AD4CBC18-5B44-454B-B952-1C196D64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95020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Agent rationales are useful for review but are not causal evidence and can quote inconsistent numbers.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434599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5B5AE7-86E3-4E2F-A146-D0169B4A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66B350-0760-4B5F-868E-83B7567A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NEXT STEPS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1F2D6F-C6FA-4E07-8E51-58E91A3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Future Work &amp; Opportunities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E49CAEED-DA12-4E75-B524-87FA12E9D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e7d67488e4c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6048A0BC-9701-4F47-BE5E-8DEBBB871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426d6c1c44f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ED3CA66-D0AD-437A-9D19-99ECD82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B638595-26CC-4A9C-A147-EF41463A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18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1D47574-DD3A-4276-8918-A78A237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steps to mature the proof of concept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9921904-01AC-4B3E-AB2D-B3A7C1B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447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72B353E-E9EE-42DC-9255-E22185E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4475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D034589-CFB7-4985-A0FE-6C9255A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Freeze the configuration and log immutable forecasts before outcomes are known.</a:t>
            </a:r>
            <a:endParaRPr sz="11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6D32465-E375-45E0-8142-56D41D2F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6771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55117CC-BEE6-4FBA-B7A1-463673D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6771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409A475-D825-4523-B202-FEBB109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Prospective test of memory</a:t>
            </a:r>
          </a:p>
          <a:p xmlns:a="http://schemas.openxmlformats.org/drawingml/2006/main"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Run memory-less hybrid agent with an adaptive agent going forward, with memory updated only from forecasts that have actually resolved, and over enough stress events to tell them apart.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BCDBF91-2BA9-4449-9747-5FA2804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906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C057176-A02B-40F4-8592-926817A2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906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66792B0-A1FB-4F2C-BAD8-8A5F42D1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752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Leading indicators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 forward-looking inputs (for example, new orders or surveys) and longer histories to capture more events.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475B51D-AA0B-4240-BFEF-869B3B8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DBF9EC7-68BD-4AFB-8DF2-0E44328B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1363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37D921F-60D5-4D2C-B0D7-E7FE0FE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0480"/>
            <a:ext cx="35661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Fix explanation quality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inconsistent quoted inputs and validate rationales against the actual feature snapshot.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4FDE013-2EEE-4FCE-8AA5-AC23B28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05840"/>
            <a:ext cx="402336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40"/>
          </a:solidFill>
          <a:ln xmlns:a="http://schemas.openxmlformats.org/drawingml/2006/main" w="12700">
            <a:solidFill>
              <a:srgbClr val="0A22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C076CCD-0F29-434C-AD57-7163F2BA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value</a:t>
            </a:r>
            <a:endParaRPr sz="13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8B7C8D3-ED0D-4BFC-90CB-1DD5D62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54480"/>
            <a:ext cx="361188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reusable pattern for sector early-warning monitoring: statistical anchor + bounded agent + audit trail.</a:t>
            </a:r>
            <a:endParaRPr sz="1000"/>
          </a:p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Analyst-style commentary at scale, with every forecast traceable to evidence and model version.</a:t>
            </a:r>
            <a:endParaRPr sz="1000"/>
          </a:p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governance template for agentic models in regulated settings: what the agent may change, how changes are gated, and how they are logged.</a:t>
            </a:r>
            <a:endParaRPr sz="1000"/>
          </a:p>
          <a:p xmlns:a="http://schemas.openxmlformats.org/drawingml/2006/main">
            <a:pPr marL="152400" indent="-152400">
              <a:spcAft>
                <a:spcPts val="700"/>
              </a:spcAft>
              <a:buSzPct val="100000"/>
              <a:buChar char="•"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workbench can be pointed at other industries or targets.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48967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43AB94-7D6B-4FC8-B9D1-319607B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0C3B3C-DD5E-4144-B428-D01F7FC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ADAPTIVE LEARNING CONTROL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A03092-B697-4043-A77B-6CF42A3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Outcome-grounded Adaptive Learning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4E5E1393-A02D-4A8A-9E85-7FD132A0B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0f197d094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E1FF1264-AE35-4E0C-ACEE-D7DFDC543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f941f9f044a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06A9318F-30EC-4E59-9E4A-176C833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FB597B3-9AB2-4E90-BAAC-820AB78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19</a:t>
            </a:r>
            <a:endParaRPr sz="75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CCE623C-2BBA-4AC6-BF6A-FC2D33A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7A7AAA5-B549-4617-8E32-C41214D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Saved forecast</a:t>
            </a:r>
            <a:endParaRPr sz="10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9562FC-D93E-472F-B3C3-A1A07F8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Immutable probability, anchor and stable origin ID</a:t>
            </a:r>
            <a:endParaRPr sz="85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6512F16-37E3-4466-8316-B069F15B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2DF27E1-1B48-450F-8625-9377601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264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A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D1413D-9265-4616-A98B-3A32F0A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 pending</a:t>
            </a:r>
            <a:endParaRPr sz="10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F51FF5-A0F5-407C-8630-16CC49A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Target remains hidden until its release date</a:t>
            </a:r>
            <a:endParaRPr sz="8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C75299-F4A1-4779-AB03-06006400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B03F81A-8FE5-4789-BE73-364374E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B958CF1-8BE6-4FE8-950D-7C5D3F4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Resolution ledger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7E3A67F-C8AD-4890-873E-47952E6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Only published outcomes become review evidence</a:t>
            </a:r>
            <a:endParaRPr sz="8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7CA707D-B49E-484D-BD66-7F860EC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AC90F36-F83C-4263-85B5-9FE68C4A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91FB5E0-721F-48D4-8E94-58A1615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Strategy review</a:t>
            </a:r>
            <a:endParaRPr sz="10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09FEB37-70ED-4891-A66A-5B36722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84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dedicated reviewer evaluates newly resolved origins</a:t>
            </a:r>
            <a:endParaRPr sz="8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19083E3-62A9-4CC8-8BD4-CA7F87C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691640"/>
            <a:ext cx="128016" cy="18288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70E841CF-82F7-4A65-AD44-3621F56F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1234440"/>
            <a:ext cx="151790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53F2D721-9190-40EF-A5A4-24D629D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325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Next forecast</a:t>
            </a:r>
            <a:endParaRPr sz="10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A252DD8-72FA-426B-B2B9-9635243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664208"/>
            <a:ext cx="1371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Reads the latest versioned strategy</a:t>
            </a:r>
            <a:endParaRPr sz="8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E0FD72E-77B4-4B8A-87C8-14BBB15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7D5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B8EB221-CBC3-49C2-B528-D697528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788920"/>
            <a:ext cx="334670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2700">
            <a:solidFill>
              <a:srgbClr val="2E7D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ACB144F-F994-4558-8C02-11ED26C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834640"/>
            <a:ext cx="31638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skill_state.yaml: versioned strategy memory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2937"/>
                </a:solidFill>
                <a:latin typeface="Arial"/>
                <a:ea typeface="Arial"/>
                <a:cs typeface="Arial"/>
              </a:rPr>
              <a:t>Stores observations, hypotheses and calibration rules. Typed tools control every change; the audit log records before/after hashes.</a:t>
            </a:r>
            <a:endParaRPr sz="10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CC6C130-D50D-4FD9-88E0-A795F27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A45F5CA0-21EA-4CE4-923B-6BD0598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2C71DB2-4753-4E67-8EBC-019D09A4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Hard refusal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5A372FB5-56C3-4282-B3B1-252D98B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unresolved or unknown origin cannot confirm or refute a hypothesis.</a:t>
            </a:r>
            <a:endParaRPr sz="9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30831D3-DAF9-4499-8243-55652AD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7B9A7A44-1CDD-437D-A22B-0D0DBC2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12700">
            <a:solidFill>
              <a:srgbClr val="ED1C2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8433C26-B344-410C-AD1D-68CBAD7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Promotion gate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AD61630-2815-41FD-A5FE-018F72A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calibration rule needs 3 confirmations from distinct resolved origins.</a:t>
            </a:r>
            <a:endParaRPr sz="9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6DD3AA85-2DE6-4E8D-A57B-99279BF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2651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18FC8241-50CE-45A3-B5D2-857C9CA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94760"/>
            <a:ext cx="54864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7261A7E-68BE-4A15-9E82-037A2B2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8862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Auditability</a:t>
            </a:r>
            <a:endParaRPr sz="105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68BE97C5-EBAC-4A35-974A-B363BA7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178808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F2937"/>
                </a:solidFill>
                <a:latin typeface="Arial"/>
                <a:ea typeface="Arial"/>
                <a:cs typeface="Arial"/>
              </a:rPr>
              <a:t>Each update records the review origin, tool, timestamp and before/after hashes.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7125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2F66D9-D7EF-45F2-A69B-3A3CC14B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7DFBC4-E1DE-4DDE-89B8-F16DDAE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IMPLEMENTATION ADDITIONS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5A8F54-B40E-4185-B830-C75F303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What Changed in the Branch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FF5A92A8-157F-4F88-8B00-FB41E98F0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b9d6b0ee1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491C814E-2F07-44A9-B328-E769B22B9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1a8670d844f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1FD3DEC-DA04-46E1-BEAB-E3D6F9E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 |  Learning proof of concept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E8F4D13-8BAE-4F03-9AB2-7BF54187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20</a:t>
            </a:r>
            <a:endParaRPr sz="7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202FE3D-308D-40D5-A510-B893A04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01</a:t>
            </a:r>
            <a:endParaRPr sz="26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A7AEB2B-199A-4006-86B6-E89864D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2412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Outcome ledger</a:t>
            </a:r>
            <a:endParaRPr sz="12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FFE0640-8CFB-44D5-9AF4-9B44EEC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02412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 cutoff-aware ledger hides every label until its release date and exposes stable origin IDs.</a:t>
            </a:r>
            <a:endParaRPr sz="1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7A8DAAF-A90E-4533-AE4E-8D014C2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8249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8970FB4-FD73-4088-8CF2-47F77589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5564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02</a:t>
            </a:r>
            <a:endParaRPr sz="26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3EF5CFF-0532-40C0-9B9B-ACBD6B57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564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Separate strategy reviewer</a:t>
            </a:r>
            <a:endParaRPr sz="12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46E2315-C581-4238-A2EA-48839BBC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75564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Forecast calls read memory. A dedicated reviewer updates it only after outcomes resolve.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1CC137A-3D5C-4C12-800D-D8D784D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401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31A4ED2-4D6F-4C18-B8AE-6D0EB893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8716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03</a:t>
            </a:r>
            <a:endParaRPr sz="26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07E62FA-11FF-4D61-9AEE-1C4A1192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8716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Enforced evidence gates</a:t>
            </a:r>
            <a:endParaRPr sz="12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3744094-BFC5-4AD0-BD81-C2A515C5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48716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Tools reject unresolved IDs. Graduation needs confirmations from 3 distinct resolved origins.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9C34E6D-6BAA-4BE8-B31D-C789073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553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404BCC4-2861-43CD-A82E-CEA43468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1868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04</a:t>
            </a:r>
            <a:endParaRPr sz="26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D2654AA-EFED-4C63-A3BF-C5E5FFDB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868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Statistical evaluation</a:t>
            </a:r>
            <a:endParaRPr sz="12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5E53476-133B-4E26-BD2E-3DCFDCBA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21868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Added 264-origin history, block-bootstrap intervals, HAC DM tests and Murphy decomposition.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96F320B2-1EDD-4AEA-ADEC-D6FC9BB1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7056"/>
            <a:ext cx="7635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EF9F2BF-C779-419F-A90A-08FD4A4A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50208"/>
            <a:ext cx="640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05</a:t>
            </a:r>
            <a:endParaRPr sz="26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50ADF20-2F72-461B-945E-18A45715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0208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Reproducible validation</a:t>
            </a:r>
            <a:endParaRPr sz="125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AD4CBC18-5B44-454B-B952-1C196D64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950208"/>
            <a:ext cx="4937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Saved forecasts, reviews and hash-linked audit events. Four targeted learning tests pass.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434599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FULL-HISTORY EVALUATION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7: Base Rate Still Leads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B78A669D-6EA2-4D7A-A688-C87061745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ca231fab14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3EB9C12C-BA25-4FC7-A095-3EB799E9B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52ff6db91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21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434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264 monthly origins, 2003-2024; 20 stress outcomes.</a:t>
            </a:r>
            <a:endParaRPr sz="8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-2.6%</a:t>
            </a:r>
            <a:endParaRPr sz="28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Logistic skill vs historical frequency</a:t>
            </a:r>
            <a:endParaRPr sz="9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-9.6%</a:t>
            </a:r>
            <a:endParaRPr sz="28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XGBoost skill vs historical frequency</a:t>
            </a:r>
            <a:endParaRPr sz="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3108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Historical frequency scored 0.0710.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Logistic scored 0.0728; its +0.0018 gap had a 90% interval of -0.0008 to +0.0043 (p = 0.207).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XGBoost scored 0.0778; its +0.0068 gap was reliably worse (p = 0.0006).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longer history strengthens the conclusion that these inputs add little forward-looking separation.</a:t>
            </a:r>
            <a:endParaRPr sz="950"/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B30BC-ECFA-4A45-AA3C-2F38C8EA8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8a40870d4da0"/>
          <a:stretch xmlns:a="http://schemas.openxmlformats.org/drawingml/2006/main"/>
        </p:blipFill>
        <p:spPr>
          <a:xfrm xmlns:a="http://schemas.openxmlformats.org/drawingml/2006/main">
            <a:off x="320040" y="1006010"/>
            <a:ext cx="5120640" cy="329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6C7B4E-5951-4462-BA43-05813931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1"/>
          </a:solidFill>
          <a:ln xmlns:a="http://schemas.openxmlformats.org/drawingml/2006/main" w="12700">
            <a:solidFill>
              <a:srgbClr val="0079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8B7A2F-DEA7-4FEB-A4A5-60D2F89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288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0079C1"/>
                </a:solidFill>
                <a:latin typeface="Arial"/>
                <a:ea typeface="Arial"/>
                <a:cs typeface="Arial"/>
              </a:rPr>
              <a:t>OUTCOME-GROUNDED WALK-FORWARD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3FDFE9-1302-4DF2-BBE7-9F26238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11480"/>
            <a:ext cx="6217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A2240"/>
                </a:solidFill>
                <a:latin typeface="Arial"/>
                <a:ea typeface="Arial"/>
                <a:cs typeface="Arial"/>
              </a:rPr>
              <a:t>Results 8: Governance Improved, Skill Did Not</a:t>
            </a:r>
            <a:endParaRPr sz="2200"/>
          </a:p>
        </p:txBody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B78A669D-6EA2-4D7A-A688-C87061745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08353364d4f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0" y="155448"/>
            <a:ext cx="457200" cy="365760"/>
          </a:xfrm>
          <a:prstGeom xmlns:a="http://schemas.openxmlformats.org/drawingml/2006/main" prst="rect">
            <a:avLst/>
          </a:prstGeom>
        </p:spPr>
      </p:pic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3EB9C12C-BA25-4FC7-A095-3EB799E9B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e059422274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9480" y="228600"/>
            <a:ext cx="1554480" cy="214726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DA7660C-595C-4B4A-A5C6-F1E6CBD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846320"/>
            <a:ext cx="5486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675"/>
            </a:defPPr>
          </a:lstStyle>
          <a:p xmlns:a="http://schemas.openxmlformats.org/drawingml/2006/main">
            <a:pPr marL="0" indent="0">
              <a:buNone/>
            </a:pPr>
            <a:r>
              <a:rPr sz="675">
                <a:solidFill>
                  <a:srgbClr val="5B6B7F"/>
                </a:solidFill>
                <a:latin typeface="Arial"/>
                <a:ea typeface="Arial"/>
                <a:cs typeface="Arial"/>
              </a:rPr>
              <a:t>Agentic AI Forecasting Bootcamp | Source figure, non-editable</a:t>
            </a:r>
            <a:endParaRPr sz="7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5896819-4A15-4639-A4B1-146441B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46320"/>
            <a:ext cx="365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B7F"/>
                </a:solidFill>
                <a:latin typeface="Arial"/>
                <a:ea typeface="Arial"/>
                <a:cs typeface="Arial"/>
              </a:rPr>
              <a:t>22</a:t>
            </a:r>
            <a:endParaRPr sz="7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8B5A1766-8F3F-44CA-8FDA-2E4C537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3434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B6B7F"/>
                </a:solidFill>
                <a:latin typeface="Arial"/>
                <a:ea typeface="Arial"/>
                <a:cs typeface="Arial"/>
              </a:rPr>
              <a:t>Mean Brier score, lower is better. 76 resolved origins, 2006-2024; 6 stress outcomes.</a:t>
            </a:r>
            <a:endParaRPr sz="850"/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29906298-5CA3-40CF-B6C7-52CBD9A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079C1"/>
                </a:solidFill>
                <a:latin typeface="Arial"/>
                <a:ea typeface="Arial"/>
                <a:cs typeface="Arial"/>
              </a:rPr>
              <a:t>-1.6%</a:t>
            </a:r>
            <a:endParaRPr sz="280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15C06832-B466-49EB-ABDF-4F2E64B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skill vs baseline</a:t>
            </a:r>
            <a:endParaRPr sz="9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FBA03BD-A8FF-4CB3-9551-C3A41B9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58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D1C24"/>
                </a:solidFill>
                <a:latin typeface="Arial"/>
                <a:ea typeface="Arial"/>
                <a:cs typeface="Arial"/>
              </a:rPr>
              <a:t>p = 0.396</a:t>
            </a:r>
            <a:endParaRPr sz="28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3488B2B-F246-42E3-B031-2DA354A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36192"/>
            <a:ext cx="1463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Reviewed adaptive agent vs anchor</a:t>
            </a:r>
            <a:endParaRPr sz="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73092E1-500E-4652-A378-D682F9F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4560"/>
            <a:ext cx="31089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reviewer ran 24 times and created 35 audited mutations.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Reviewed and no-review agents were nearly identical: 0.0756 vs 0.0755.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reviewed agent beat its anchor by 0.0013, but the gap was not significant.</a:t>
            </a:r>
            <a:endParaRPr sz="950"/>
          </a:p>
          <a:p xmlns:a="http://schemas.openxmlformats.org/drawingml/2006/main"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950">
                <a:solidFill>
                  <a:srgbClr val="1F2937"/>
                </a:solidFill>
                <a:latin typeface="Arial"/>
                <a:ea typeface="Arial"/>
                <a:cs typeface="Arial"/>
              </a:rPr>
              <a:t>Late-period performance was worse than the anchor, so the run does not show learning. It does show a valid, auditable test design.</a:t>
            </a:r>
            <a:endParaRPr sz="950"/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D512C-4B2A-40ED-A380-D218ED1C9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623a585b241e1"/>
          <a:stretch xmlns:a="http://schemas.openxmlformats.org/drawingml/2006/main"/>
        </p:blipFill>
        <p:spPr>
          <a:xfrm xmlns:a="http://schemas.openxmlformats.org/drawingml/2006/main">
            <a:off x="320040" y="1006010"/>
            <a:ext cx="5120640" cy="329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55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22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339BF6E-7574-49F0-B12B-AAC71D6E0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40130810c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685800"/>
            <a:ext cx="3383280" cy="3803904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8830FF4A-7960-4481-B7A8-883716DA1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5a4e37b3745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0" y="274320"/>
            <a:ext cx="109728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569AC677-C547-4B41-86AC-F662162A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"/>
            <a:ext cx="24688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997E619C-3C10-4DB3-897A-3560E7090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843e770d43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29184"/>
            <a:ext cx="2194560" cy="30314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3078D93B-88FF-44EA-8B2D-E46E9014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54480"/>
            <a:ext cx="4480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You!</a:t>
            </a:r>
            <a:endParaRPr sz="40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CBF55F48-5E6C-461B-8106-41FC8B8E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33172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CEB"/>
                </a:solidFill>
                <a:latin typeface="Arial"/>
                <a:ea typeface="Arial"/>
                <a:cs typeface="Arial"/>
              </a:rPr>
              <a:t>Team BMO Two  |  Agentic AI Forecasting Bootcamp</a:t>
            </a:r>
            <a:endParaRPr sz="1300"/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2001241-BC68-480D-A226-CFDCB86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0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EC9EC"/>
                </a:solidFill>
                <a:latin typeface="Arial"/>
                <a:ea typeface="Arial"/>
                <a:cs typeface="Arial"/>
              </a:rPr>
              <a:t>Questions and feedback welcome</a:t>
            </a:r>
            <a:endParaRPr sz="11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FC5A0EF5-B279-45E8-A20E-9F568922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8328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Mina Attari  ·  Nitya Joshi  ·  Pratyush Patodia  ·  Vaibhav K Beohar  ·  Navid Sabbaghi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351031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2026-10-09T04:52:11.0430000Z</dcterms:created>
  <dcterms:modified xsi:type="dcterms:W3CDTF">2026-10-09T04:52:11.0430000Z</dcterms:modified>
</coreProperties>
</file>