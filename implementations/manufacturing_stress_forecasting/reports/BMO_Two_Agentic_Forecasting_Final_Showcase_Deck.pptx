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6889093c524bc2" /><Relationship Type="http://schemas.openxmlformats.org/officeDocument/2006/relationships/extended-properties" Target="/docProps/app.xml" Id="R255dbaee06a94e0b" /><Relationship Type="http://schemas.openxmlformats.org/officeDocument/2006/relationships/officeDocument" Target="/ppt/presentation.xml" Id="R4e6a7a8dc85f4f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e8dc1397294b77"/>
  </p:sldMasterIdLst>
  <p:notesMasterIdLst>
    <p:notesMasterId xmlns:r="http://schemas.openxmlformats.org/officeDocument/2006/relationships" r:id="Raa29cc9bc2954dbb"/>
  </p:notesMasterIdLst>
  <p:sldIdLst>
    <p:sldId xmlns:r="http://schemas.openxmlformats.org/officeDocument/2006/relationships" id="256" r:id="R30dd122d68bd4b44"/>
    <p:sldId xmlns:r="http://schemas.openxmlformats.org/officeDocument/2006/relationships" id="257" r:id="Rc4e090b4cfb4442d"/>
    <p:sldId xmlns:r="http://schemas.openxmlformats.org/officeDocument/2006/relationships" id="258" r:id="Rc4d6604d942a4152"/>
    <p:sldId xmlns:r="http://schemas.openxmlformats.org/officeDocument/2006/relationships" id="259" r:id="R783ced1fd24342ce"/>
    <p:sldId xmlns:r="http://schemas.openxmlformats.org/officeDocument/2006/relationships" id="260" r:id="Rc7a44cb5880743dd"/>
    <p:sldId xmlns:r="http://schemas.openxmlformats.org/officeDocument/2006/relationships" id="261" r:id="R0dadf79541bf498c"/>
    <p:sldId xmlns:r="http://schemas.openxmlformats.org/officeDocument/2006/relationships" id="262" r:id="R7e0a742bd50d45d3"/>
    <p:sldId xmlns:r="http://schemas.openxmlformats.org/officeDocument/2006/relationships" id="263" r:id="Rc9f556a888b44bce"/>
    <p:sldId xmlns:r="http://schemas.openxmlformats.org/officeDocument/2006/relationships" id="264" r:id="Re8043e2db87749e2"/>
    <p:sldId xmlns:r="http://schemas.openxmlformats.org/officeDocument/2006/relationships" id="265" r:id="Rbd82ff4472c14af3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f2061ae2454fee" /><Relationship Type="http://schemas.openxmlformats.org/officeDocument/2006/relationships/slideMaster" Target="/ppt/slideMasters/slideMaster1.xml" Id="R00e8dc1397294b77" /><Relationship Type="http://schemas.openxmlformats.org/officeDocument/2006/relationships/notesMaster" Target="/ppt/notesMasters/notesMaster1.xml" Id="Raa29cc9bc2954dbb" /><Relationship Type="http://schemas.openxmlformats.org/officeDocument/2006/relationships/presProps" Target="/ppt/presProps.xml" Id="Rdba8507345cb4e05" /><Relationship Type="http://schemas.openxmlformats.org/officeDocument/2006/relationships/viewProps" Target="/ppt/viewProps.xml" Id="R938bc131ff334f2e" /><Relationship Type="http://schemas.openxmlformats.org/officeDocument/2006/relationships/tableStyles" Target="/ppt/tableStyles.xml" Id="R647a819808dd4f51" /><Relationship Type="http://schemas.openxmlformats.org/officeDocument/2006/relationships/slide" Target="/ppt/slides/slide1.xml" Id="R30dd122d68bd4b44" /><Relationship Type="http://schemas.openxmlformats.org/officeDocument/2006/relationships/slide" Target="/ppt/slides/slide2.xml" Id="Rc4e090b4cfb4442d" /><Relationship Type="http://schemas.openxmlformats.org/officeDocument/2006/relationships/slide" Target="/ppt/slides/slide3.xml" Id="Rc4d6604d942a4152" /><Relationship Type="http://schemas.openxmlformats.org/officeDocument/2006/relationships/slide" Target="/ppt/slides/slide4.xml" Id="R783ced1fd24342ce" /><Relationship Type="http://schemas.openxmlformats.org/officeDocument/2006/relationships/slide" Target="/ppt/slides/slide5.xml" Id="Rc7a44cb5880743dd" /><Relationship Type="http://schemas.openxmlformats.org/officeDocument/2006/relationships/slide" Target="/ppt/slides/slide6.xml" Id="R0dadf79541bf498c" /><Relationship Type="http://schemas.openxmlformats.org/officeDocument/2006/relationships/slide" Target="/ppt/slides/slide7.xml" Id="R7e0a742bd50d45d3" /><Relationship Type="http://schemas.openxmlformats.org/officeDocument/2006/relationships/slide" Target="/ppt/slides/slide8.xml" Id="Rc9f556a888b44bce" /><Relationship Type="http://schemas.openxmlformats.org/officeDocument/2006/relationships/slide" Target="/ppt/slides/slide9.xml" Id="Re8043e2db87749e2" /><Relationship Type="http://schemas.openxmlformats.org/officeDocument/2006/relationships/slide" Target="/ppt/slides/slide10.xml" Id="Rbd82ff4472c14a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1e807ee4dd49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37fb21e69648e0" /><Relationship Type="http://schemas.openxmlformats.org/officeDocument/2006/relationships/notesMaster" Target="/ppt/notesMasters/notesMaster1.xml" Id="Rb59da1baa6e743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b92c703ec4437d" /><Relationship Type="http://schemas.openxmlformats.org/officeDocument/2006/relationships/notesMaster" Target="/ppt/notesMasters/notesMaster1.xml" Id="R4e349ec88e3845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d43fe30f91433b" /><Relationship Type="http://schemas.openxmlformats.org/officeDocument/2006/relationships/notesMaster" Target="/ppt/notesMasters/notesMaster1.xml" Id="R036718fe5deb42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c0bbb248f04ad9" /><Relationship Type="http://schemas.openxmlformats.org/officeDocument/2006/relationships/notesMaster" Target="/ppt/notesMasters/notesMaster1.xml" Id="R398588f9e8934d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b7381c69504cd4" /><Relationship Type="http://schemas.openxmlformats.org/officeDocument/2006/relationships/notesMaster" Target="/ppt/notesMasters/notesMaster1.xml" Id="R2e6135158a6a4e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e507dc6c2644fa" /><Relationship Type="http://schemas.openxmlformats.org/officeDocument/2006/relationships/notesMaster" Target="/ppt/notesMasters/notesMaster1.xml" Id="R44c98856bc054f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29f63edf794b7b" /><Relationship Type="http://schemas.openxmlformats.org/officeDocument/2006/relationships/notesMaster" Target="/ppt/notesMasters/notesMaster1.xml" Id="Rd82b63adec0846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3afb77c7214ad8" /><Relationship Type="http://schemas.openxmlformats.org/officeDocument/2006/relationships/notesMaster" Target="/ppt/notesMasters/notesMaster1.xml" Id="Rc2a57acf230240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eee57333464957" /><Relationship Type="http://schemas.openxmlformats.org/officeDocument/2006/relationships/notesMaster" Target="/ppt/notesMasters/notesMaster1.xml" Id="R46d2f43d223649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3fbf22d2c54c04" /><Relationship Type="http://schemas.openxmlformats.org/officeDocument/2006/relationships/notesMaster" Target="/ppt/notesMasters/notesMaster1.xml" Id="Rf1a39968581142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bootcamp learning exercise. The goal was to learn how to design, evaluate and govern an agentic forecaster, not to ship a production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rate 6.25% (20 of 320 months). No dollar impact is claimed; the value case is earlier, more consistent warning.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reports/full_history/executive_report.md and tables/model_comparison.csv.</a:t>
            </a:r>
            <a:endParaRPr/>
          </a:p>
          <a:p xmlns:a="http://schemas.openxmlformats.org/drawingml/2006/main">
            <a:r>
              <a:t>The interval uses a six-month circular block bootstrap. The DM test uses HAC variance for overlapping three-month forecast horizons.</a:t>
            </a:r>
            <a:endParaRPr/>
          </a:p>
          <a:p xmlns:a="http://schemas.openxmlformats.org/drawingml/2006/main">
            <a:r>
              <a:t>The result concerns the evaluated feature set and retrospective sample; it does not prove that manufacturing stress is inherently unpredictable.</a:t>
            </a:r>
            <a:endParaRPr/>
          </a:p>
          <a:p xmlns:a="http://schemas.openxmlformats.org/drawingml/2006/main">
            <a:r>
              <a:t>Showcase cue: lower Brier score is better. The base-rate forecast remains the benchmark to beat.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Branch addition: cutoff-aware OutcomeLedger and separate periodic strategy review.</a:t>
            </a:r>
            <a:endParaRPr/>
          </a:p>
          <a:p xmlns:a="http://schemas.openxmlformats.org/drawingml/2006/main">
            <a:r>
              <a:t>The key control is temporal: an outcome cannot enter memory until its publication date is at or before the current forecast origin.</a:t>
            </a:r>
            <a:endParaRPr/>
          </a:p>
          <a:p xmlns:a="http://schemas.openxmlformats.org/drawingml/2006/main">
            <a:r>
              <a:t>Source: adaptive_agent/ledger.py, adaptive_agent/review.py and adaptive_agent/tools.py.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reports/adaptive_walk_forward/lite and reports/adaptive_walk_forward/lite_no_review.</a:t>
            </a:r>
            <a:endParaRPr/>
          </a:p>
          <a:p xmlns:a="http://schemas.openxmlformats.org/drawingml/2006/main">
            <a:r>
              <a:t>The reviewed adaptive-versus-anchor mean Brier difference was -0.00132 with DM p = 0.396. Negative favors the adaptive agent.</a:t>
            </a:r>
            <a:endParaRPr/>
          </a:p>
          <a:p xmlns:a="http://schemas.openxmlformats.org/drawingml/2006/main">
            <a:r>
              <a:t>Reviews occurred every four origins and after a newly resolved stress event. The saved run contains 76 forecasts, 24 reviews and 35 strategy mutations.</a:t>
            </a:r>
            <a:endParaRPr/>
          </a:p>
          <a:p xmlns:a="http://schemas.openxmlformats.org/drawingml/2006/main">
            <a:r>
              <a:t>Showcase cue: the branch fixed the evaluation design. The current evidence does not yet show forecast learning.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ec72c5530402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d0a097fdd34611" /><Relationship Type="http://schemas.openxmlformats.org/officeDocument/2006/relationships/slideLayout" Target="/ppt/slideLayouts/slideLayout1.xml" Id="R35a20e41033647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a20e410336476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8eca7c0dd4e70" /><Relationship Type="http://schemas.openxmlformats.org/officeDocument/2006/relationships/image" Target="/ppt/media/image.png" Id="Rf76cf4b050e64c16" /><Relationship Type="http://schemas.openxmlformats.org/officeDocument/2006/relationships/image" Target="/ppt/media/image2.png" Id="R0a0ec9b89e644574" /><Relationship Type="http://schemas.openxmlformats.org/officeDocument/2006/relationships/notesSlide" Target="/ppt/notesSlides/notesSlide1.xml" Id="R7f1cde1179c34d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36e88dba44183" /><Relationship Type="http://schemas.openxmlformats.org/officeDocument/2006/relationships/image" Target="/ppt/media/image3.png" Id="R9c526f561cd04ce0" /><Relationship Type="http://schemas.openxmlformats.org/officeDocument/2006/relationships/image" Target="/ppt/media/image2.png" Id="R08ff72ee595d487d" /><Relationship Type="http://schemas.openxmlformats.org/officeDocument/2006/relationships/image" Target="/ppt/media/image4.png" Id="R23ddfaf1a7b8403c" /><Relationship Type="http://schemas.openxmlformats.org/officeDocument/2006/relationships/notesSlide" Target="/ppt/notesSlides/notesSlide2.xml" Id="R95caabc01d354f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7e6a75a974cbe" /><Relationship Type="http://schemas.openxmlformats.org/officeDocument/2006/relationships/image" Target="/ppt/media/image3.png" Id="R1e9dfed3156146b5" /><Relationship Type="http://schemas.openxmlformats.org/officeDocument/2006/relationships/image" Target="/ppt/media/image2.png" Id="R5bf67732dbff4ea1" /><Relationship Type="http://schemas.openxmlformats.org/officeDocument/2006/relationships/image" Target="/ppt/media/image5.png" Id="Rc7ff217aea654c1e" /><Relationship Type="http://schemas.openxmlformats.org/officeDocument/2006/relationships/image" Target="/ppt/media/image6.png" Id="R02ce283355a6436c" /><Relationship Type="http://schemas.openxmlformats.org/officeDocument/2006/relationships/image" Target="/ppt/media/image7.png" Id="R42c5110723ab4a09" /><Relationship Type="http://schemas.openxmlformats.org/officeDocument/2006/relationships/notesSlide" Target="/ppt/notesSlides/notesSlide3.xml" Id="R2d630237ca724c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7e6ef81ae4f54" /><Relationship Type="http://schemas.openxmlformats.org/officeDocument/2006/relationships/image" Target="/ppt/media/image3.png" Id="R79d1fcf356ef406f" /><Relationship Type="http://schemas.openxmlformats.org/officeDocument/2006/relationships/image" Target="/ppt/media/image2.png" Id="R6e79f6ee22cf48c5" /><Relationship Type="http://schemas.openxmlformats.org/officeDocument/2006/relationships/notesSlide" Target="/ppt/notesSlides/notesSlide4.xml" Id="Rdb95e20744f949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05fab1e274613" /><Relationship Type="http://schemas.openxmlformats.org/officeDocument/2006/relationships/image" Target="/ppt/media/image3.png" Id="R7d7cfdae44544866" /><Relationship Type="http://schemas.openxmlformats.org/officeDocument/2006/relationships/image" Target="/ppt/media/image2.png" Id="Rf27c93abd1ae403b" /><Relationship Type="http://schemas.openxmlformats.org/officeDocument/2006/relationships/notesSlide" Target="/ppt/notesSlides/notesSlide5.xml" Id="R1cba447819ef4e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60efe397f4b99" /><Relationship Type="http://schemas.openxmlformats.org/officeDocument/2006/relationships/image" Target="/ppt/media/image3.png" Id="R01b8ef6ed7504e97" /><Relationship Type="http://schemas.openxmlformats.org/officeDocument/2006/relationships/image" Target="/ppt/media/image2.png" Id="Rbdf7a1307de24ffe" /><Relationship Type="http://schemas.openxmlformats.org/officeDocument/2006/relationships/image" Target="/ppt/media/image8.png" Id="R590fbca611db4f68" /><Relationship Type="http://schemas.openxmlformats.org/officeDocument/2006/relationships/notesSlide" Target="/ppt/notesSlides/notesSlide6.xml" Id="R239fcb37c35d42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ff7a112d04667" /><Relationship Type="http://schemas.openxmlformats.org/officeDocument/2006/relationships/image" Target="/ppt/media/image3.png" Id="Rd0ddd96f991f4b1a" /><Relationship Type="http://schemas.openxmlformats.org/officeDocument/2006/relationships/image" Target="/ppt/media/image2.png" Id="R21c532281a724f5d" /><Relationship Type="http://schemas.openxmlformats.org/officeDocument/2006/relationships/notesSlide" Target="/ppt/notesSlides/notesSlide7.xml" Id="Rad0ac800591941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a6b3324fe4545" /><Relationship Type="http://schemas.openxmlformats.org/officeDocument/2006/relationships/image" Target="/ppt/media/image3.png" Id="Ra060d4abf6254a02" /><Relationship Type="http://schemas.openxmlformats.org/officeDocument/2006/relationships/image" Target="/ppt/media/image2.png" Id="Re552c9306b394ab5" /><Relationship Type="http://schemas.openxmlformats.org/officeDocument/2006/relationships/image" Target="/ppt/media/image9.png" Id="Rba6dfe86b91c4434" /><Relationship Type="http://schemas.openxmlformats.org/officeDocument/2006/relationships/notesSlide" Target="/ppt/notesSlides/notesSlide8.xml" Id="R0938a033cb8041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cf6b2553d4593" /><Relationship Type="http://schemas.openxmlformats.org/officeDocument/2006/relationships/image" Target="/ppt/media/image3.png" Id="R9e87c9cfff97480c" /><Relationship Type="http://schemas.openxmlformats.org/officeDocument/2006/relationships/image" Target="/ppt/media/image2.png" Id="Rcd62054307134ca3" /><Relationship Type="http://schemas.openxmlformats.org/officeDocument/2006/relationships/notesSlide" Target="/ppt/notesSlides/notesSlide9.xml" Id="Re690182d77ae4d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8929849dc4900" /><Relationship Type="http://schemas.openxmlformats.org/officeDocument/2006/relationships/image" Target="/ppt/media/image10.png" Id="R7826dab683434721" /><Relationship Type="http://schemas.openxmlformats.org/officeDocument/2006/relationships/image" Target="/ppt/media/image.png" Id="Rf7054a48b55f48d9" /><Relationship Type="http://schemas.openxmlformats.org/officeDocument/2006/relationships/image" Target="/ppt/media/image2.png" Id="R925e924e31e74696" /><Relationship Type="http://schemas.openxmlformats.org/officeDocument/2006/relationships/notesSlide" Target="/ppt/notesSlides/notesSlide10.xml" Id="R8e5aa3e986ad4c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2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DCFFD1-8F89-4C7B-BE9A-FFA906F2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" name="Image 1">
            <a:extLst xmlns:a="http://schemas.openxmlformats.org/drawingml/2006/main">
              <a:ext uri="{FF2B5EF4-FFF2-40B4-BE49-F238E27FC236}">
                <a16:creationId xmlns:a16="http://schemas.microsoft.com/office/drawing/2014/main" id="{77E3D27B-7524-4FC5-B233-DDB9AE556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cf4b050e64c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0640" y="274320"/>
            <a:ext cx="1097280" cy="457200"/>
          </a:xfrm>
          <a:prstGeom xmlns:a="http://schemas.openxmlformats.org/drawingml/2006/main" prst="rect">
            <a:avLst/>
          </a:prstGeom>
        </p:spPr>
      </p:pic>
      <p:sp>
        <p:nvSpPr>
          <p:cNvPr id="5" name="Shape 1">
            <a:extLst xmlns:a="http://schemas.openxmlformats.org/drawingml/2006/main">
              <a:ext uri="{FF2B5EF4-FFF2-40B4-BE49-F238E27FC236}">
                <a16:creationId xmlns:a16="http://schemas.microsoft.com/office/drawing/2014/main" id="{405EF1BF-DE44-41CF-B6BC-18A5865F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6888"/>
            <a:ext cx="24688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" name="Image 2">
            <a:extLst xmlns:a="http://schemas.openxmlformats.org/drawingml/2006/main">
              <a:ext uri="{FF2B5EF4-FFF2-40B4-BE49-F238E27FC236}">
                <a16:creationId xmlns:a16="http://schemas.microsoft.com/office/drawing/2014/main" id="{B7CC66F1-C768-44D6-983B-E0522B1F28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ec9b89e6445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29184"/>
            <a:ext cx="2194560" cy="303142"/>
          </a:xfrm>
          <a:prstGeom xmlns:a="http://schemas.openxmlformats.org/drawingml/2006/main" prst="rect">
            <a:avLst/>
          </a:prstGeom>
        </p:spPr>
      </p:pic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235C90B2-CC6C-4138-A753-CC83DAA0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00">
                <a:solidFill>
                  <a:srgbClr val="8EC9EC"/>
                </a:solidFill>
                <a:latin typeface="Arial"/>
                <a:ea typeface="Arial"/>
                <a:cs typeface="Arial"/>
              </a:rPr>
              <a:t>AGENTIC AI FORECASTING BOOTCAMP</a:t>
            </a:r>
            <a:endParaRPr sz="950"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6D361F54-7932-48C5-ABD2-9472EA81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9" y="1280160"/>
            <a:ext cx="7979343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Forecasting U.S. Manufacturing Stress with a Governed Adaptive Agent</a:t>
            </a:r>
            <a:endParaRPr sz="28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931C7D8A-36FC-4182-8487-EBC2A16D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71224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9DCEB"/>
                </a:solidFill>
                <a:latin typeface="Arial"/>
                <a:ea typeface="Arial"/>
                <a:cs typeface="Arial"/>
              </a:rPr>
              <a:t>What we learned combining a statistical anchor, an LLM analyst and auditable agent memory</a:t>
            </a:r>
            <a:endParaRPr sz="125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9960333-B137-414B-BBDA-942601E7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457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12700">
            <a:solidFill>
              <a:srgbClr val="ED1C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09A9EDBA-F4D9-4B8A-A5BB-7EC863F4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11880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BMO Two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October 2026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620327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B02EF3E-CEFC-4C15-8464-21B2DB4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046D1C-2131-4F62-B34A-20070905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WHY THIS MATTERS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240E26B-B3A6-4BF7-A5C4-EE4410E6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Business Problem &amp; Opportunity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973299FD-B17E-4D95-9E5D-6087E9A86C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26f561cd04c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15373F6A-450C-4124-86D3-C2E54B4B29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f72ee595d48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DF7BA47-4C7B-4413-94D2-9AE627AC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675"/>
            </a:defPPr>
          </a:lstStyle>
          <a:p xmlns:a="http://schemas.openxmlformats.org/drawingml/2006/main"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03AF9DD-E5BA-4104-8C74-5EBFE5F5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2</a:t>
            </a:r>
            <a:endParaRPr sz="7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FCD4D95-2034-4182-81CD-3FA96AB8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The Challenge</a:t>
            </a:r>
            <a:endParaRPr sz="13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38834DE-98B2-4816-ACF3-F0C504F9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71600"/>
            <a:ext cx="39319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Credit teams monitor sector exposures and want earlier warning when an industry is heading into stress.</a:t>
            </a:r>
            <a:endParaRPr sz="100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Manufacturing stress is rare: 20 of 320 months (2000-2026) met our definition, clustered in 2008-09, 2020 and brief 2021-22 episodes.</a:t>
            </a:r>
            <a:endParaRPr sz="100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Traditional models struggle with few events, and analyst judgment is hard to make consistent and auditable.</a:t>
            </a:r>
            <a:endParaRPr sz="10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15D8AEE-6BCE-4AC3-9640-C9BC9A6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6324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The Opportunity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CB6D5C7-52DC-4218-9BAA-8405F1FF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83280"/>
            <a:ext cx="39319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Agents can read many signals, explain their view, and combine statistics with judgment.</a:t>
            </a:r>
            <a:endParaRPr sz="100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If governed well, they could scale analyst-style monitoring across sectors with a full audit trail.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F472492-567C-431E-8F7F-17F29A38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515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Share of months in manufacturing stress, by year (%)</a:t>
            </a:r>
            <a:endParaRPr sz="105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155A03BA-4241-4136-BE0E-A1CC1EA3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42519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A"/>
          </a:solidFill>
          <a:ln xmlns:a="http://schemas.openxmlformats.org/drawingml/2006/main" w="12700">
            <a:solidFill>
              <a:srgbClr val="E6F2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DC88BFDD-282A-4123-871C-361F951D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913632"/>
            <a:ext cx="4069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Target definition: </a:t>
            </a:r>
            <a:r>
              <a:rPr sz="900">
                <a:solidFill>
                  <a:srgbClr val="0A2240"/>
                </a:solidFill>
                <a:latin typeface="Arial"/>
                <a:ea typeface="Arial"/>
                <a:cs typeface="Arial"/>
              </a:rPr>
              <a:t>a month is "stressed" when U.S. manufacturing production (FRED IPMAN) has fallen by 2% or more over the previous 3 months. We forecast this 3 months ahead.</a:t>
            </a:r>
            <a:endParaRPr sz="900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ABC80-0E95-4FBE-9DE5-6259B18315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dfaf1a7b8403c"/>
          <a:srcRect xmlns:a="http://schemas.openxmlformats.org/drawingml/2006/main" l="49000" t="25778" r="3500" b="25333"/>
          <a:stretch xmlns:a="http://schemas.openxmlformats.org/drawingml/2006/main"/>
        </p:blipFill>
        <p:spPr>
          <a:xfrm xmlns:a="http://schemas.openxmlformats.org/drawingml/2006/main">
            <a:off x="4480560" y="1325880"/>
            <a:ext cx="4343400" cy="2514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96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B84507-4640-44FA-A6E4-94514C8B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DC6D06-256B-4992-8BAE-9BA24E88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HIGH-LEVEL APPROACH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9F0637F-95F1-4750-ACB1-CA1DEE8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Our Solution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80A84339-5886-438B-BBDF-19238CA2B3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dfed3156146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11C8BA69-BD2E-44B1-A036-502D9AEBFC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67732dbff4e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A364B891-A9A9-4979-9A46-54376867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BC81E7-CF4C-43E8-B86F-54CB9792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3</a:t>
            </a:r>
            <a:endParaRPr sz="7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B1094C6-1C46-4EF2-872B-FA110762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8321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F2937"/>
                </a:solidFill>
                <a:latin typeface="Arial"/>
                <a:ea typeface="Arial"/>
                <a:cs typeface="Arial"/>
              </a:rPr>
              <a:t>A forecasting workbench that pairs a transparent statistical model with an LLM analyst. The model provides the starting probability; the agent reviews current evidence, explains its view, and can nudge the forecast only within a fixed bound. Every durable change to the agent's strategy is versioned and logged.</a:t>
            </a:r>
            <a:endParaRPr sz="11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972256A-F3EA-4D42-835D-B2226D82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Key Capabilities</a:t>
            </a:r>
            <a:endParaRPr sz="13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F0AC3EC1-46A3-49B1-9733-DC80C219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94560"/>
            <a:ext cx="2651760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9007CFA-25ED-45EC-8738-6A6E887D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94560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72A199C-F9FE-4C07-A353-886C0423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957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40"/>
          </a:solidFill>
          <a:ln xmlns:a="http://schemas.openxmlformats.org/drawingml/2006/main" w="12700">
            <a:solidFill>
              <a:srgbClr val="0A22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" name="Image 2">
            <a:extLst xmlns:a="http://schemas.openxmlformats.org/drawingml/2006/main">
              <a:ext uri="{FF2B5EF4-FFF2-40B4-BE49-F238E27FC236}">
                <a16:creationId xmlns:a16="http://schemas.microsoft.com/office/drawing/2014/main" id="{C66A0431-0E3F-4032-AE20-3C5769ACEA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f217aea654c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" y="251002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C988F8C-8692-4E33-865F-5BBFA6FE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0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Leakage-safe numerical anchor</a:t>
            </a:r>
            <a:endParaRPr sz="12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4215888-8F8A-4103-B7F1-2C99EC2E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83280"/>
            <a:ext cx="2331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Logistic regression refit at each forecast date, using only data released by that date (FRED and Yahoo Finance).</a:t>
            </a:r>
            <a:endParaRPr sz="95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E217DF4B-8DDA-4CC1-B694-A326626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194560"/>
            <a:ext cx="2651760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00F81606-6431-4B70-B5CA-63E24C87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194560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5CE71B48-D7D8-4476-B10E-B409BDAA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3957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40"/>
          </a:solidFill>
          <a:ln xmlns:a="http://schemas.openxmlformats.org/drawingml/2006/main" w="12700">
            <a:solidFill>
              <a:srgbClr val="0A22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Image 3">
            <a:extLst xmlns:a="http://schemas.openxmlformats.org/drawingml/2006/main">
              <a:ext uri="{FF2B5EF4-FFF2-40B4-BE49-F238E27FC236}">
                <a16:creationId xmlns:a16="http://schemas.microsoft.com/office/drawing/2014/main" id="{B919015F-F146-434A-AC0D-55708F7008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e283355a6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5868" y="251002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8B13C5B7-412F-40F8-AE7F-9B433CF7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926080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Bounded LLM reasoning</a:t>
            </a:r>
            <a:endParaRPr sz="12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A4557F29-95A9-4E95-8075-FD58581F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383280"/>
            <a:ext cx="2331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agent returns a probability, rationale, supporting and opposing evidence, and a risk direction. Its change to the anchor is capped at ±0.03.</a:t>
            </a:r>
            <a:endParaRPr sz="95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886DBDBC-9C44-47E4-9274-5D2F1D8C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194560"/>
            <a:ext cx="2651760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E5F321D1-A4E6-490D-AD16-B852E6D7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194560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57103676-A3DB-421C-A118-717057EA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3957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40"/>
          </a:solidFill>
          <a:ln xmlns:a="http://schemas.openxmlformats.org/drawingml/2006/main" w="12700">
            <a:solidFill>
              <a:srgbClr val="0A22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Image 4">
            <a:extLst xmlns:a="http://schemas.openxmlformats.org/drawingml/2006/main">
              <a:ext uri="{FF2B5EF4-FFF2-40B4-BE49-F238E27FC236}">
                <a16:creationId xmlns:a16="http://schemas.microsoft.com/office/drawing/2014/main" id="{675F4CF0-BE82-4A87-BB06-0B85074C5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5110723ab4a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3076" y="251002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1D92CBA2-9AFA-4F15-B1D9-CB4FA66A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926080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Governed adaptive memory</a:t>
            </a:r>
            <a:endParaRPr sz="12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2EFB9FA3-E2F0-42E1-B0FD-6EF5AC4F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3383280"/>
            <a:ext cx="2331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Typed tools record observations and hypotheses. A hypothesis needs 3 confirmations from distinct origins before it changes the strategy; every change is hash-linked.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137335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A43AB94-7D6B-4FC8-B9D1-319607B3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0C3B3C-DD5E-4144-B428-D01F7FC8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ARCHITECTURE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A03092-B697-4043-A77B-6CF42A35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How the Workbench Fits Together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5F423D88-11E3-486D-BA7D-891FAB8955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1fcf356ef40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29E20549-CA5B-4784-BD2D-7D4577D7D6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9f6ee22cf48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6A9318F-30EC-4E59-9E4A-176C833E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FB597B3-9AB2-4E90-BAAC-820AB78C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4</a:t>
            </a:r>
            <a:endParaRPr sz="75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0CCE623C-2BBA-4AC6-BF6A-FC2D33A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B7A7AAA5-B549-4617-8E32-C41214D5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Leakage-safe data</a:t>
            </a:r>
            <a:endParaRPr sz="10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99562FC-D93E-472F-B3C3-A1A07F8B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IPMAN, macro and market series, filtered by release date</a:t>
            </a:r>
            <a:endParaRPr sz="85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6512F16-37E3-4466-8316-B069F15B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2DF27E1-1B48-450F-8625-9377601E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264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A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5D1413D-9265-4616-A98B-3A32F0A6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Logistic anchor</a:t>
            </a:r>
            <a:endParaRPr sz="10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1F51FF5-A0F5-407C-8630-16CC49AF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Statistical probability (C = 0.001)</a:t>
            </a:r>
            <a:endParaRPr sz="8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7C75299-F4A1-4779-AB03-06006400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8B03F81A-8FE5-4789-BE73-364374E6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B958CF1-8BE6-4FE8-950D-7C5D3F47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LLM agent</a:t>
            </a:r>
            <a:endParaRPr sz="105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7E3A67F-C8AD-4890-873E-47952E6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Reviews evidence and proposes a probability with rationale</a:t>
            </a:r>
            <a:endParaRPr sz="8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C7CA707D-B49E-484D-BD66-7F860ECA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C90F36-F83C-4263-85B5-9FE68C4A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91FB5E0-721F-48D4-8E94-58A16150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±0.03 guardrail</a:t>
            </a:r>
            <a:endParaRPr sz="105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09FEB37-70ED-4891-A66A-5B36722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= anchor + bounded adjustment</a:t>
            </a:r>
            <a:endParaRPr sz="8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419083E3-62A9-4CC8-8BD4-CA7F87CA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70E841CF-82F7-4A65-AD44-3621F56F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53F2D721-9190-40EF-A5A4-24D629D3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Forecast record</a:t>
            </a:r>
            <a:endParaRPr sz="105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A252DD8-72FA-426B-B2B9-9635243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Scored in backtest with Brier score</a:t>
            </a:r>
            <a:endParaRPr sz="85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5E0FD72E-77B4-4B8A-87C8-14BBB158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17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5B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8B8EB221-CBC3-49C2-B528-D6975284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2788920"/>
            <a:ext cx="334670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ACB144F-F994-4558-8C02-11ED26C9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834640"/>
            <a:ext cx="316382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Strategy memory (enabled for the adaptive agent)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Typed tools save observations and hypotheses to a versioned state that later prompts read. Every change writes a redacted audit event with before/after hashes.</a:t>
            </a:r>
            <a:endParaRPr sz="105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CC6C130-D50D-4FD9-88E0-A795F27C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94760"/>
            <a:ext cx="2651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A45F5CA0-21EA-4CE4-923B-6BD0598D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9476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22C71DB2-4753-4E67-8EBC-019D09A4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886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the agent CAN change</a:t>
            </a:r>
            <a:endParaRPr sz="105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5A372FB5-56C3-4282-B3B1-252D98B6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17880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Its proposed probability (within ±0.03) and the prompt-level strategy it reads next time.</a:t>
            </a:r>
            <a:endParaRPr sz="9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730831D3-DAF9-4499-8243-55652ADE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794760"/>
            <a:ext cx="2651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7B9A7A44-1CDD-437D-A22B-0D0DBC2A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79476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12700">
            <a:solidFill>
              <a:srgbClr val="ED1C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E8433C26-B344-410C-AD1D-68CBAD7F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886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it CANNOT change</a:t>
            </a:r>
            <a:endParaRPr sz="105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3AD61630-2815-41FD-A5FE-018F72A1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17880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Data, features, target, model parameters or the anchor code. No retraining happens through the agent.</a:t>
            </a:r>
            <a:endParaRPr sz="9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6DD3AA85-2DE6-4E8D-A57B-99279BF8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794760"/>
            <a:ext cx="2651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18FC8241-50CE-45A3-B5D2-857C9CA7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79476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D7261A7E-68BE-4A15-9E82-037A2B2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886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Observability</a:t>
            </a:r>
            <a:endParaRPr sz="105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68BE97C5-EBAC-4A35-974A-B363BA7B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17880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Optional Langfuse traces for each call, plus a local redacted audit log of strategy changes.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787125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4D478B-D3A2-488B-9C13-11B434C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16737F-969C-4A23-A083-9C327629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DATA, MODELS AND EVALUATION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9FA33F-0FE1-4CA9-8B15-57103FC3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Technical Approach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EFEE3015-751D-4D63-9F22-A42996571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cfdae44544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2B04C452-024F-4A85-BCAD-8A18FD4EBD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c93abd1ae40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240F192F-B168-4404-BD01-46EC3299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E71433F-8C0F-46D6-A605-E7BFAD1D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5</a:t>
            </a:r>
            <a:endParaRPr sz="7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4380B9E-52AF-4253-80ED-C5807AD3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Data &amp; Models</a:t>
            </a:r>
            <a:endParaRPr sz="13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62F5A64-9075-4C01-8DF3-AB7F6116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402336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Dataset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15 monthly inputs from public sources: IPMAN 1/3/6-month changes; Fed funds, 10y-2y spread, CPI, unemployment, jobless claims, VIX, Baa credit spread (FRED); SPY and XLI 3/12-month returns (Yahoo Finance).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400">
                <a:solidFill>
                  <a:srgbClr val="1F2937"/>
                </a:solidFill>
                <a:latin typeface="Arial"/>
                <a:ea typeface="Arial"/>
                <a:cs typeface="Arial"/>
              </a:rPr>
              <a:t> 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Leakage control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Each forecast only sees data released by its date. IPMAN uses a conservative 1-month release lag.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400">
                <a:solidFill>
                  <a:srgbClr val="1F2937"/>
                </a:solidFill>
                <a:latin typeface="Arial"/>
                <a:ea typeface="Arial"/>
                <a:cs typeface="Arial"/>
              </a:rPr>
              <a:t> 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Models compared (7)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Historical frequency (baseline), logistic regression, XGBoost, hybrid anchor, LLM analyst agent, hybrid agent and adaptive agent.</a:t>
            </a:r>
            <a:endParaRPr sz="9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D68BB4B-7F0A-4A46-8D9C-49C98D72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058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Experiments &amp; Evaluation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8642D76D-8B35-4496-BD7B-0A3DABDB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0817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9E45218F-0CAC-451C-823B-860B0D84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0817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0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C2D61B-33DF-463A-918D-1039A031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371600"/>
            <a:ext cx="3703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Parameter sweep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15 candidates, 3 chronological folds (2000-2017)</a:t>
            </a:r>
            <a:endParaRPr sz="9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6ED15E04-34AE-4BD4-941A-71CA00C4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6537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D65C5C1-9B4F-4FBA-9D8E-0721321E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6537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BC1E2C4-4134-4C21-90B9-23076C9E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28800"/>
            <a:ext cx="3703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2018-2024 diagnostic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Sweep candidates re-scored on an already-inspected window</a:t>
            </a:r>
            <a:endParaRPr sz="9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7609D78-D062-4121-A018-0F3E08E0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32257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4D4E032-575A-442D-A5E5-9DCA4D1D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32257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9A0CF46-6E69-4EAB-A09E-70E43FAC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286000"/>
            <a:ext cx="3703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All-model comparison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7 models, 84 monthly origins (2018-2024), 6 stress events</a:t>
            </a:r>
            <a:endParaRPr sz="9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6A4BCB73-0FD7-459A-B39E-AA2D508C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7977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8BFB9FC-CFA9-4210-B78D-2C6C76F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7977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D97E3B9-74A6-4DC0-8D1C-F0591246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743200"/>
            <a:ext cx="3703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LLM model choice comparison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Gemini Lite vs Gemini Advanced, read-only, same 84 origins</a:t>
            </a:r>
            <a:endParaRPr sz="9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D898936E-ED18-400A-8FCA-2000B614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3697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924890E-209F-4F0C-9E99-2E6CB4CE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3697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FA62B2F-3701-480C-AFEC-81D48160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200400"/>
            <a:ext cx="3703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Governance demo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One full hypothesis lifecycle with audited memory changes</a:t>
            </a:r>
            <a:endParaRPr sz="9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CF193712-E5A4-47DF-9E0A-FDA3E436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749040"/>
            <a:ext cx="4114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A"/>
          </a:solidFill>
          <a:ln xmlns:a="http://schemas.openxmlformats.org/drawingml/2006/main" w="12700">
            <a:solidFill>
              <a:srgbClr val="E6F2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1E88831B-43DE-4863-BB97-DBDAB106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776472"/>
            <a:ext cx="39319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Evaluation metrics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A2240"/>
                </a:solidFill>
                <a:latin typeface="Arial"/>
                <a:ea typeface="Arial"/>
                <a:cs typeface="Arial"/>
              </a:rPr>
              <a:t>Brier score = mean of (forecast probability - actual 0/1)². Lower is better. Brier skill = 1 - model score / baseline score; positive means better than the historical base rate. Plus calibration and regime slices.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599719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6C7B4E-5951-4462-BA43-05813931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8B7A2F-DEA7-4FEB-A4A5-60D2F890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FULL-HISTORY EVALUATION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93FDFE9-1302-4DF2-BBE7-9F262381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The Base Rate Still Leads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269AB107-6F70-4182-9C8E-F7BAD08E30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8ef6ed7504e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82F35C37-521C-4E65-9488-53E94CF24C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7a1307de24f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DA7660C-595C-4B4A-A5C6-F1E6CBD8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675"/>
            </a:defPPr>
          </a:lstStyle>
          <a:p xmlns:a="http://schemas.openxmlformats.org/drawingml/2006/main"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5896819-4A15-4639-A4B1-146441B1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6</a:t>
            </a:r>
            <a:endParaRPr sz="7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8B5A1766-8F3F-44CA-8FDA-2E4C537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434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Mean Brier score, lower is better. 264 monthly origins, 2003-2024; 20 stress outcomes.</a:t>
            </a:r>
            <a:endParaRPr sz="85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29906298-5CA3-40CF-B6C7-52CBD9A8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05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-2.6%</a:t>
            </a:r>
            <a:endParaRPr sz="280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15C06832-B466-49EB-ABDF-4F2E64B0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36192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Logistic skill vs historical frequency</a:t>
            </a:r>
            <a:endParaRPr sz="9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9FBA03BD-A8FF-4CB3-9551-C3A41B91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05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-9.6%</a:t>
            </a:r>
            <a:endParaRPr sz="28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13488B2B-F246-42E3-B031-2DA354A9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36192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XGBoost skill vs historical frequency</a:t>
            </a:r>
            <a:endParaRPr sz="9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973092E1-500E-4652-A378-D682F9F8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4560"/>
            <a:ext cx="310896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Historical frequency scored 0.0710.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Logistic scored 0.0728; its +0.0018 gap had a 90% interval of -0.0008 to +0.0043 (p = 0.207).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XGBoost scored 0.0778; its +0.0068 gap was reliably worse (p = 0.0006).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longer history strengthens the conclusion that these inputs add little forward-looking separation.</a:t>
            </a:r>
            <a:endParaRPr sz="950"/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1DDCB-538B-4AE8-9BB8-D5D5BF0BAD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fbca611db4f68"/>
          <a:stretch xmlns:a="http://schemas.openxmlformats.org/drawingml/2006/main"/>
        </p:blipFill>
        <p:spPr>
          <a:xfrm xmlns:a="http://schemas.openxmlformats.org/drawingml/2006/main">
            <a:off x="320040" y="1006010"/>
            <a:ext cx="5120640" cy="329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5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A43AB94-7D6B-4FC8-B9D1-319607B3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0C3B3C-DD5E-4144-B428-D01F7FC8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ADAPTIVE LEARNING CONTROL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A03092-B697-4043-A77B-6CF42A35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Outcome-grounded Adaptive Learning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561859E1-FE2C-41DB-9E3F-686D277661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dd96f991f4b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E02F3082-EB24-4FA9-870F-E93304963C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532281a724f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6A9318F-30EC-4E59-9E4A-176C833E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FB597B3-9AB2-4E90-BAAC-820AB78C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7</a:t>
            </a:r>
            <a:endParaRPr sz="75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0CCE623C-2BBA-4AC6-BF6A-FC2D33A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B7A7AAA5-B549-4617-8E32-C41214D5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Saved forecast</a:t>
            </a:r>
            <a:endParaRPr sz="10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99562FC-D93E-472F-B3C3-A1A07F8B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Immutable probability, anchor and stable origin ID</a:t>
            </a:r>
            <a:endParaRPr sz="85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6512F16-37E3-4466-8316-B069F15B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2DF27E1-1B48-450F-8625-9377601E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264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A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5D1413D-9265-4616-A98B-3A32F0A6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Outcome pending</a:t>
            </a:r>
            <a:endParaRPr sz="10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1F51FF5-A0F5-407C-8630-16CC49AF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Target remains hidden until its release date</a:t>
            </a:r>
            <a:endParaRPr sz="8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7C75299-F4A1-4779-AB03-06006400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8B03F81A-8FE5-4789-BE73-364374E6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B958CF1-8BE6-4FE8-950D-7C5D3F47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Resolution ledger</a:t>
            </a:r>
            <a:endParaRPr sz="105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7E3A67F-C8AD-4890-873E-47952E6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Only published outcomes become review evidence</a:t>
            </a:r>
            <a:endParaRPr sz="8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C7CA707D-B49E-484D-BD66-7F860ECA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C90F36-F83C-4263-85B5-9FE68C4A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91FB5E0-721F-48D4-8E94-58A16150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Strategy review</a:t>
            </a:r>
            <a:endParaRPr sz="105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09FEB37-70ED-4891-A66A-5B36722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A dedicated reviewer evaluates newly resolved origins</a:t>
            </a:r>
            <a:endParaRPr sz="8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419083E3-62A9-4CC8-8BD4-CA7F87CA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70E841CF-82F7-4A65-AD44-3621F56F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53F2D721-9190-40EF-A5A4-24D629D3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Next forecast</a:t>
            </a:r>
            <a:endParaRPr sz="105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A252DD8-72FA-426B-B2B9-9635243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Reads the latest versioned strategy</a:t>
            </a:r>
            <a:endParaRPr sz="85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5E0FD72E-77B4-4B8A-87C8-14BBB158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17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5B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8B8EB221-CBC3-49C2-B528-D6975284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2788920"/>
            <a:ext cx="334670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ACB144F-F994-4558-8C02-11ED26C9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834640"/>
            <a:ext cx="316382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skill_state.yaml: versioned strategy memory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Stores observations, hypotheses and calibration rules. Typed tools control every change; the audit log records before/after hashes.</a:t>
            </a:r>
            <a:endParaRPr sz="105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CC6C130-D50D-4FD9-88E0-A795F27C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94760"/>
            <a:ext cx="2651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A45F5CA0-21EA-4CE4-923B-6BD0598D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9476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22C71DB2-4753-4E67-8EBC-019D09A4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886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Hard refusal</a:t>
            </a:r>
            <a:endParaRPr sz="105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5A372FB5-56C3-4282-B3B1-252D98B6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17880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An unresolved or unknown origin cannot confirm or refute a hypothesis.</a:t>
            </a:r>
            <a:endParaRPr sz="9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730831D3-DAF9-4499-8243-55652ADE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794760"/>
            <a:ext cx="2651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7B9A7A44-1CDD-437D-A22B-0D0DBC2A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79476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12700">
            <a:solidFill>
              <a:srgbClr val="ED1C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E8433C26-B344-410C-AD1D-68CBAD7F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886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Promotion gate</a:t>
            </a:r>
            <a:endParaRPr sz="105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3AD61630-2815-41FD-A5FE-018F72A1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17880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A calibration rule needs 3 confirmations from distinct resolved origins.</a:t>
            </a:r>
            <a:endParaRPr sz="9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6DD3AA85-2DE6-4E8D-A57B-99279BF8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794760"/>
            <a:ext cx="2651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18FC8241-50CE-45A3-B5D2-857C9CA7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79476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D7261A7E-68BE-4A15-9E82-037A2B2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886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Auditability</a:t>
            </a:r>
            <a:endParaRPr sz="105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68BE97C5-EBAC-4A35-974A-B363BA7B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17880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Each update records the review origin, tool, timestamp and before/after hashes.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787125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6C7B4E-5951-4462-BA43-05813931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8B7A2F-DEA7-4FEB-A4A5-60D2F890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OUTCOME-GROUNDED WALK-FORWARD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93FDFE9-1302-4DF2-BBE7-9F262381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Governance Improved, Forecast Skill Did Not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DC895FAD-0B19-4024-8F26-17BD8AE884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0d4abf6254a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840B189D-9ED6-476C-8484-3C7AE29660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2c9306b394a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DA7660C-595C-4B4A-A5C6-F1E6CBD8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675"/>
            </a:defPPr>
          </a:lstStyle>
          <a:p xmlns:a="http://schemas.openxmlformats.org/drawingml/2006/main"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5896819-4A15-4639-A4B1-146441B1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8</a:t>
            </a:r>
            <a:endParaRPr sz="7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8B5A1766-8F3F-44CA-8FDA-2E4C537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434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Mean Brier score, lower is better. 76 resolved origins, 2006-2024; 6 stress outcomes.</a:t>
            </a:r>
            <a:endParaRPr sz="85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29906298-5CA3-40CF-B6C7-52CBD9A8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05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-1.6%</a:t>
            </a:r>
            <a:endParaRPr sz="280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15C06832-B466-49EB-ABDF-4F2E64B0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36192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Reviewed adaptive skill vs baseline</a:t>
            </a:r>
            <a:endParaRPr sz="9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9FBA03BD-A8FF-4CB3-9551-C3A41B91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05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p = 0.396</a:t>
            </a:r>
            <a:endParaRPr sz="28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13488B2B-F246-42E3-B031-2DA354A9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36192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Reviewed adaptive agent vs anchor</a:t>
            </a:r>
            <a:endParaRPr sz="9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973092E1-500E-4652-A378-D682F9F8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4560"/>
            <a:ext cx="310896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reviewer ran 24 times and created 35 audited mutations.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Reviewed and no-review agents were nearly identical: 0.0756 vs 0.0755.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reviewed agent beat its anchor by 0.0013, but the gap was not significant.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Late-period performance was worse than the anchor, so the run does not show learning. It does show a valid, auditable test design.</a:t>
            </a:r>
            <a:endParaRPr sz="950"/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2DB19-74CF-41A6-AD8B-8B6A6E8DAF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dfe86b91c4434"/>
          <a:stretch xmlns:a="http://schemas.openxmlformats.org/drawingml/2006/main"/>
        </p:blipFill>
        <p:spPr>
          <a:xfrm xmlns:a="http://schemas.openxmlformats.org/drawingml/2006/main">
            <a:off x="320040" y="1006010"/>
            <a:ext cx="5120640" cy="329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5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35B5AE7-86E3-4E2F-A146-D0169B4A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66B350-0760-4B5F-868E-83B7567A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NEXT STEPS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A1F2D6F-C6FA-4E07-8E51-58E91A3A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Next Steps and Opportunities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51C4B864-20DD-437C-9A30-5B3880EB8D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7c9cfff9748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F54AC5D4-ABCC-4C8D-9CF4-89109CA656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2054307134c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9ED3CA66-D0AD-437A-9D19-99ECD82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B638595-26CC-4A9C-A147-EF41463A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9</a:t>
            </a:r>
            <a:endParaRPr sz="7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1D47574-DD3A-4276-8918-A78A2377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Next steps to mature the proof of concept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9921904-01AC-4B3E-AB2D-B3A7C1B0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4447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72B353E-E9EE-42DC-9255-E22185E1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44475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1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D034589-CFB7-4985-A0FE-6C9255A2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35661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Prospective test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Freeze the configuration and log immutable forecasts before outcomes are known.</a:t>
            </a:r>
            <a:endParaRPr sz="11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6D32465-E375-45E0-8142-56D41D2F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6771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55117CC-BEE6-4FBA-B7A1-463673D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6771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409A475-D825-4523-B202-FEBB1092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4560"/>
            <a:ext cx="35661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Prospective test of memory</a:t>
            </a:r>
          </a:p>
          <a:p xmlns:a="http://schemas.openxmlformats.org/drawingml/2006/main"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Run memory-less hybrid agent with an adaptive agent going forward, with memory updated only from forecasts that have actually resolved, and over enough stress events to tell them apart.</a:t>
            </a:r>
            <a:endParaRPr sz="11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BCDBF91-2BA9-4449-9747-5FA28040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906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C057176-A02B-40F4-8592-926817A2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906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1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66792B0-A1FB-4F2C-BAD8-8A5F42D1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7520"/>
            <a:ext cx="35661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Leading indicators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Add forward-looking inputs (for example, new orders or surveys) and longer histories to capture more events.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2475B51D-AA0B-4240-BFEF-869B3B8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1363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0DBF9EC7-68BD-4AFB-8DF2-0E44328B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1363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1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37D921F-60D5-4D2C-B0D7-E7FE0FE9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0480"/>
            <a:ext cx="35661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Fix explanation quality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Investigate inconsistent quoted inputs and validate rationales against the actual feature snapshot.</a:t>
            </a:r>
            <a:endParaRPr sz="11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74FDE013-2EEE-4FCE-8AA5-AC23B28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005840"/>
            <a:ext cx="402336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40"/>
          </a:solidFill>
          <a:ln xmlns:a="http://schemas.openxmlformats.org/drawingml/2006/main" w="12700">
            <a:solidFill>
              <a:srgbClr val="0A22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C076CCD-0F29-434C-AD57-7163F2BA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4300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Potential value</a:t>
            </a:r>
            <a:endParaRPr sz="13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8B7C8D3-ED0D-4BFC-90CB-1DD5D62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54480"/>
            <a:ext cx="361188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reusable pattern for sector early-warning monitoring: statistical anchor + bounded agent + audit trail.</a:t>
            </a:r>
            <a:endParaRPr sz="1000"/>
          </a:p>
          <a:p xmlns:a="http://schemas.openxmlformats.org/drawingml/2006/main"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Analyst-style commentary at scale, with every forecast traceable to evidence and model version.</a:t>
            </a:r>
            <a:endParaRPr sz="1000"/>
          </a:p>
          <a:p xmlns:a="http://schemas.openxmlformats.org/drawingml/2006/main"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governance template for agentic models in regulated settings: what the agent may change, how changes are gated, and how they are logged.</a:t>
            </a:r>
            <a:endParaRPr sz="1000"/>
          </a:p>
          <a:p xmlns:a="http://schemas.openxmlformats.org/drawingml/2006/main"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same workbench can be pointed at other industries or targets.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48967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22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23DC4EA3-3D1F-4B24-9DB2-45E987AFBB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6dab6834347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685800"/>
            <a:ext cx="3383280" cy="3803904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1A0933C1-A225-4803-A134-F55D224C0B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54a48b55f48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0640" y="274320"/>
            <a:ext cx="109728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569AC677-C547-4B41-86AC-F662162A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6888"/>
            <a:ext cx="24688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E255B58B-22E1-43E5-B48F-B04DEE3AF0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e924e31e746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29184"/>
            <a:ext cx="2194560" cy="30314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3078D93B-88FF-44EA-8B2D-E46E9014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54480"/>
            <a:ext cx="4480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You!</a:t>
            </a:r>
            <a:endParaRPr sz="40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CBF55F48-5E6C-461B-8106-41FC8B8E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31720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DCEB"/>
                </a:solidFill>
                <a:latin typeface="Arial"/>
                <a:ea typeface="Arial"/>
                <a:cs typeface="Arial"/>
              </a:rPr>
              <a:t>Team BMO Two  |  Agentic AI Forecasting Bootcamp</a:t>
            </a:r>
            <a:endParaRPr sz="1300"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2001241-BC68-480D-A226-CFDCB866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743200"/>
            <a:ext cx="4480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8EC9EC"/>
                </a:solidFill>
                <a:latin typeface="Arial"/>
                <a:ea typeface="Arial"/>
                <a:cs typeface="Arial"/>
              </a:rPr>
              <a:t>Questions and feedback welcome</a:t>
            </a:r>
            <a:endParaRPr sz="11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FC5A0EF5-B279-45E8-A20E-9F568922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83280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Mina Attari  ·  Nitya Joshi  ·  Pratyush Patodia  ·  Vaibhav K Beohar  ·  Navid Sabbaghi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351031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2026-10-09T04:59:43.5740000Z</dcterms:created>
  <dcterms:modified xsi:type="dcterms:W3CDTF">2026-10-09T04:59:43.5740000Z</dcterms:modified>
</coreProperties>
</file>