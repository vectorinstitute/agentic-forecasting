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months (%)</c:v>
                </c:pt>
              </c:strCache>
            </c:strRef>
          </c:tx>
          <c:spPr>
            <a:solidFill>
              <a:srgbClr val="0079C1"/>
            </a:solidFill>
            <a:effectLst/>
          </c:spPr>
          <c:invertIfNegative val="0"/>
          <c:cat>
            <c:strRef>
              <c:f>Sheet1!$A$2:$A$28</c:f>
              <c:strCache>
                <c:ptCount val="27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66.7</c:v>
                </c:pt>
                <c:pt idx="9">
                  <c:v>50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33.299999999999997</c:v>
                </c:pt>
                <c:pt idx="21">
                  <c:v>8.3000000000000007</c:v>
                </c:pt>
                <c:pt idx="22">
                  <c:v>8.3000000000000007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A0-4D09-A758-FCBC375436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5400000"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0079C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Credit spread</c:v>
                </c:pt>
                <c:pt idx="1">
                  <c:v>VIX</c:v>
                </c:pt>
                <c:pt idx="2">
                  <c:v>Jobless claims</c:v>
                </c:pt>
                <c:pt idx="3">
                  <c:v>Unemployment</c:v>
                </c:pt>
                <c:pt idx="4">
                  <c:v>S&amp;P 500 12m return</c:v>
                </c:pt>
                <c:pt idx="5">
                  <c:v>Industrials (XLI) 12m return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0.55200000000000005</c:v>
                </c:pt>
                <c:pt idx="1">
                  <c:v>0.51700000000000002</c:v>
                </c:pt>
                <c:pt idx="2">
                  <c:v>0.441</c:v>
                </c:pt>
                <c:pt idx="3">
                  <c:v>0.28699999999999998</c:v>
                </c:pt>
                <c:pt idx="4">
                  <c:v>-0.434</c:v>
                </c:pt>
                <c:pt idx="5">
                  <c:v>-0.45900000000000002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1E-47F9-A7BD-DA8178C944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-0.6"/>
        </c:scaling>
        <c:delete val="0"/>
        <c:axPos val="b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3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Tuning folds 2000-2017</c:v>
                </c:pt>
              </c:strCache>
            </c:strRef>
          </c:tx>
          <c:spPr>
            <a:solidFill>
              <a:srgbClr val="0079C1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Logistic C=1.0</c:v>
                </c:pt>
                <c:pt idx="1">
                  <c:v>Logistic C=0.1</c:v>
                </c:pt>
                <c:pt idx="2">
                  <c:v>Logistic C=0.03</c:v>
                </c:pt>
                <c:pt idx="3">
                  <c:v>Hist. frequency</c:v>
                </c:pt>
                <c:pt idx="4">
                  <c:v>XGB 25 d1 lr.03</c:v>
                </c:pt>
                <c:pt idx="5">
                  <c:v>XGB 100 d2 lr.02</c:v>
                </c:pt>
                <c:pt idx="6">
                  <c:v>XGB 50 d2 lr.03</c:v>
                </c:pt>
                <c:pt idx="7">
                  <c:v>XGB 50 d2 reg.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4.6800000000000001E-2</c:v>
                </c:pt>
                <c:pt idx="1">
                  <c:v>5.2299999999999999E-2</c:v>
                </c:pt>
                <c:pt idx="2">
                  <c:v>5.3699999999999998E-2</c:v>
                </c:pt>
                <c:pt idx="3">
                  <c:v>6.5799999999999997E-2</c:v>
                </c:pt>
                <c:pt idx="4">
                  <c:v>7.2300000000000003E-2</c:v>
                </c:pt>
                <c:pt idx="5">
                  <c:v>7.2800000000000004E-2</c:v>
                </c:pt>
                <c:pt idx="6">
                  <c:v>7.3599999999999999E-2</c:v>
                </c:pt>
                <c:pt idx="7">
                  <c:v>7.4300000000000005E-2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E6-4733-8877-A5194318BF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2018-2024 diagnostic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Logistic C=1.0</c:v>
                </c:pt>
                <c:pt idx="1">
                  <c:v>Logistic C=0.1</c:v>
                </c:pt>
                <c:pt idx="2">
                  <c:v>Logistic C=0.03</c:v>
                </c:pt>
                <c:pt idx="3">
                  <c:v>Hist. frequency</c:v>
                </c:pt>
                <c:pt idx="4">
                  <c:v>XGB 25 d1 lr.03</c:v>
                </c:pt>
                <c:pt idx="5">
                  <c:v>XGB 100 d2 lr.02</c:v>
                </c:pt>
                <c:pt idx="6">
                  <c:v>XGB 50 d2 lr.03</c:v>
                </c:pt>
                <c:pt idx="7">
                  <c:v>XGB 50 d2 reg.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0.23269999999999999</c:v>
                </c:pt>
                <c:pt idx="1">
                  <c:v>0.13139999999999999</c:v>
                </c:pt>
                <c:pt idx="2">
                  <c:v>8.6599999999999996E-2</c:v>
                </c:pt>
                <c:pt idx="3">
                  <c:v>3.56E-2</c:v>
                </c:pt>
                <c:pt idx="4">
                  <c:v>4.2599999999999999E-2</c:v>
                </c:pt>
                <c:pt idx="5">
                  <c:v>7.4899999999999994E-2</c:v>
                </c:pt>
                <c:pt idx="6">
                  <c:v>6.4299999999999996E-2</c:v>
                </c:pt>
                <c:pt idx="7">
                  <c:v>4.2200000000000001E-2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E6-4733-8877-A5194318BF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5B6B7F"/>
                    </a:solidFill>
                    <a:latin typeface="Arial"/>
                  </a:rPr>
                  <a:t>Mean Brier (lower is better)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5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Brier</c:v>
                </c:pt>
              </c:strCache>
            </c:strRef>
          </c:tx>
          <c:spPr>
            <a:solidFill>
              <a:srgbClr val="2E7D5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273-4138-A68A-AD1742D9EDB3}"/>
              </c:ext>
            </c:extLst>
          </c:dPt>
          <c:dPt>
            <c:idx val="1"/>
            <c:invertIfNegative val="0"/>
            <c:bubble3D val="0"/>
            <c:spPr>
              <a:solidFill>
                <a:srgbClr val="0079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273-4138-A68A-AD1742D9EDB3}"/>
              </c:ext>
            </c:extLst>
          </c:dPt>
          <c:dPt>
            <c:idx val="2"/>
            <c:invertIfNegative val="0"/>
            <c:bubble3D val="0"/>
            <c:spPr>
              <a:solidFill>
                <a:srgbClr val="0079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273-4138-A68A-AD1742D9EDB3}"/>
              </c:ext>
            </c:extLst>
          </c:dPt>
          <c:dPt>
            <c:idx val="3"/>
            <c:invertIfNegative val="0"/>
            <c:bubble3D val="0"/>
            <c:spPr>
              <a:solidFill>
                <a:srgbClr val="0079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273-4138-A68A-AD1742D9EDB3}"/>
              </c:ext>
            </c:extLst>
          </c:dPt>
          <c:dPt>
            <c:idx val="4"/>
            <c:invertIfNegative val="0"/>
            <c:bubble3D val="0"/>
            <c:spPr>
              <a:solidFill>
                <a:srgbClr val="0079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273-4138-A68A-AD1742D9EDB3}"/>
              </c:ext>
            </c:extLst>
          </c:dPt>
          <c:dPt>
            <c:idx val="5"/>
            <c:invertIfNegative val="0"/>
            <c:bubble3D val="0"/>
            <c:spPr>
              <a:solidFill>
                <a:srgbClr val="ED1C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273-4138-A68A-AD1742D9EDB3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Historical frequency</c:v>
                </c:pt>
                <c:pt idx="1">
                  <c:v>Logistic / hybrid anchor</c:v>
                </c:pt>
                <c:pt idx="2">
                  <c:v>Adaptive agent</c:v>
                </c:pt>
                <c:pt idx="3">
                  <c:v>Hybrid agent</c:v>
                </c:pt>
                <c:pt idx="4">
                  <c:v>XGBoost</c:v>
                </c:pt>
                <c:pt idx="5">
                  <c:v>LLM analyst (unbounded)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6.6699999999999995E-2</c:v>
                </c:pt>
                <c:pt idx="1">
                  <c:v>6.8900000000000003E-2</c:v>
                </c:pt>
                <c:pt idx="2">
                  <c:v>6.9199999999999998E-2</c:v>
                </c:pt>
                <c:pt idx="3">
                  <c:v>7.0699999999999999E-2</c:v>
                </c:pt>
                <c:pt idx="4">
                  <c:v>7.22E-2</c:v>
                </c:pt>
                <c:pt idx="5">
                  <c:v>9.7900000000000001E-2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273-4138-A68A-AD1742D9ED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1"/>
          <c:min val="0"/>
        </c:scaling>
        <c:delete val="0"/>
        <c:axPos val="t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stress (0/1)</c:v>
                </c:pt>
              </c:strCache>
            </c:strRef>
          </c:tx>
          <c:spPr>
            <a:ln w="19050" cap="flat">
              <a:solidFill>
                <a:srgbClr val="B8C2C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Sheet1!$A$2:$A$85</c:f>
              <c:strCache>
                <c:ptCount val="84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  <c:pt idx="67">
                  <c:v>2023-08</c:v>
                </c:pt>
                <c:pt idx="68">
                  <c:v>2023-09</c:v>
                </c:pt>
                <c:pt idx="69">
                  <c:v>2023-10</c:v>
                </c:pt>
                <c:pt idx="70">
                  <c:v>2023-11</c:v>
                </c:pt>
                <c:pt idx="71">
                  <c:v>2023-12</c:v>
                </c:pt>
                <c:pt idx="72">
                  <c:v>2024-01</c:v>
                </c:pt>
                <c:pt idx="73">
                  <c:v>2024-02</c:v>
                </c:pt>
                <c:pt idx="74">
                  <c:v>2024-03</c:v>
                </c:pt>
                <c:pt idx="75">
                  <c:v>2024-04</c:v>
                </c:pt>
                <c:pt idx="76">
                  <c:v>2024-05</c:v>
                </c:pt>
                <c:pt idx="77">
                  <c:v>2024-06</c:v>
                </c:pt>
                <c:pt idx="78">
                  <c:v>2024-07</c:v>
                </c:pt>
                <c:pt idx="79">
                  <c:v>2024-08</c:v>
                </c:pt>
                <c:pt idx="80">
                  <c:v>2024-09</c:v>
                </c:pt>
                <c:pt idx="81">
                  <c:v>2024-10</c:v>
                </c:pt>
                <c:pt idx="82">
                  <c:v>2024-11</c:v>
                </c:pt>
                <c:pt idx="83">
                  <c:v>2024-12</c:v>
                </c:pt>
              </c:strCache>
            </c:strRef>
          </c:cat>
          <c:val>
            <c:numRef>
              <c:f>Sheet1!$B$2:$B$85</c:f>
              <c:numCache>
                <c:formatCode>General</c:formatCode>
                <c:ptCount val="8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1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10-4DD2-BD34-15BF7AE6D0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analyst</c:v>
                </c:pt>
              </c:strCache>
            </c:strRef>
          </c:tx>
          <c:spPr>
            <a:ln w="19050" cap="flat">
              <a:solidFill>
                <a:srgbClr val="ED1C2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Sheet1!$A$2:$A$85</c:f>
              <c:strCache>
                <c:ptCount val="84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  <c:pt idx="67">
                  <c:v>2023-08</c:v>
                </c:pt>
                <c:pt idx="68">
                  <c:v>2023-09</c:v>
                </c:pt>
                <c:pt idx="69">
                  <c:v>2023-10</c:v>
                </c:pt>
                <c:pt idx="70">
                  <c:v>2023-11</c:v>
                </c:pt>
                <c:pt idx="71">
                  <c:v>2023-12</c:v>
                </c:pt>
                <c:pt idx="72">
                  <c:v>2024-01</c:v>
                </c:pt>
                <c:pt idx="73">
                  <c:v>2024-02</c:v>
                </c:pt>
                <c:pt idx="74">
                  <c:v>2024-03</c:v>
                </c:pt>
                <c:pt idx="75">
                  <c:v>2024-04</c:v>
                </c:pt>
                <c:pt idx="76">
                  <c:v>2024-05</c:v>
                </c:pt>
                <c:pt idx="77">
                  <c:v>2024-06</c:v>
                </c:pt>
                <c:pt idx="78">
                  <c:v>2024-07</c:v>
                </c:pt>
                <c:pt idx="79">
                  <c:v>2024-08</c:v>
                </c:pt>
                <c:pt idx="80">
                  <c:v>2024-09</c:v>
                </c:pt>
                <c:pt idx="81">
                  <c:v>2024-10</c:v>
                </c:pt>
                <c:pt idx="82">
                  <c:v>2024-11</c:v>
                </c:pt>
                <c:pt idx="83">
                  <c:v>2024-12</c:v>
                </c:pt>
              </c:strCache>
            </c:strRef>
          </c:cat>
          <c:val>
            <c:numRef>
              <c:f>Sheet1!$C$2:$C$85</c:f>
              <c:numCache>
                <c:formatCode>General</c:formatCode>
                <c:ptCount val="84"/>
                <c:pt idx="0">
                  <c:v>0.05</c:v>
                </c:pt>
                <c:pt idx="1">
                  <c:v>0.08</c:v>
                </c:pt>
                <c:pt idx="2">
                  <c:v>0.05</c:v>
                </c:pt>
                <c:pt idx="3">
                  <c:v>0.08</c:v>
                </c:pt>
                <c:pt idx="4">
                  <c:v>0.08</c:v>
                </c:pt>
                <c:pt idx="5">
                  <c:v>0.08</c:v>
                </c:pt>
                <c:pt idx="6">
                  <c:v>0.08</c:v>
                </c:pt>
                <c:pt idx="7">
                  <c:v>0.12</c:v>
                </c:pt>
                <c:pt idx="8">
                  <c:v>0.05</c:v>
                </c:pt>
                <c:pt idx="9">
                  <c:v>0.04</c:v>
                </c:pt>
                <c:pt idx="10">
                  <c:v>0.12</c:v>
                </c:pt>
                <c:pt idx="11">
                  <c:v>0.12</c:v>
                </c:pt>
                <c:pt idx="12">
                  <c:v>0.18</c:v>
                </c:pt>
                <c:pt idx="13">
                  <c:v>0.12</c:v>
                </c:pt>
                <c:pt idx="14">
                  <c:v>0.12</c:v>
                </c:pt>
                <c:pt idx="15">
                  <c:v>0.18</c:v>
                </c:pt>
                <c:pt idx="16">
                  <c:v>0.18</c:v>
                </c:pt>
                <c:pt idx="17">
                  <c:v>0.18</c:v>
                </c:pt>
                <c:pt idx="18">
                  <c:v>0.08</c:v>
                </c:pt>
                <c:pt idx="19">
                  <c:v>0.12</c:v>
                </c:pt>
                <c:pt idx="20">
                  <c:v>0.08</c:v>
                </c:pt>
                <c:pt idx="21">
                  <c:v>0.12</c:v>
                </c:pt>
                <c:pt idx="22">
                  <c:v>0.12</c:v>
                </c:pt>
                <c:pt idx="23">
                  <c:v>0.12</c:v>
                </c:pt>
                <c:pt idx="24">
                  <c:v>0.08</c:v>
                </c:pt>
                <c:pt idx="25">
                  <c:v>0.08</c:v>
                </c:pt>
                <c:pt idx="26">
                  <c:v>0.08</c:v>
                </c:pt>
                <c:pt idx="27">
                  <c:v>0.85</c:v>
                </c:pt>
                <c:pt idx="28">
                  <c:v>0.85</c:v>
                </c:pt>
                <c:pt idx="29">
                  <c:v>0.65</c:v>
                </c:pt>
                <c:pt idx="30">
                  <c:v>0.35</c:v>
                </c:pt>
                <c:pt idx="31">
                  <c:v>0.12</c:v>
                </c:pt>
                <c:pt idx="32">
                  <c:v>0.08</c:v>
                </c:pt>
                <c:pt idx="33">
                  <c:v>0.12</c:v>
                </c:pt>
                <c:pt idx="34">
                  <c:v>0.08</c:v>
                </c:pt>
                <c:pt idx="35">
                  <c:v>0.05</c:v>
                </c:pt>
                <c:pt idx="36">
                  <c:v>0.05</c:v>
                </c:pt>
                <c:pt idx="37">
                  <c:v>0.08</c:v>
                </c:pt>
                <c:pt idx="38">
                  <c:v>0.28000000000000003</c:v>
                </c:pt>
                <c:pt idx="39">
                  <c:v>0.12</c:v>
                </c:pt>
                <c:pt idx="40">
                  <c:v>0.12</c:v>
                </c:pt>
                <c:pt idx="41">
                  <c:v>0.05</c:v>
                </c:pt>
                <c:pt idx="42">
                  <c:v>7.4999999999999997E-2</c:v>
                </c:pt>
                <c:pt idx="43">
                  <c:v>0.06</c:v>
                </c:pt>
                <c:pt idx="44">
                  <c:v>0.09</c:v>
                </c:pt>
                <c:pt idx="45">
                  <c:v>0.15</c:v>
                </c:pt>
                <c:pt idx="46">
                  <c:v>0.12</c:v>
                </c:pt>
                <c:pt idx="47">
                  <c:v>0.09</c:v>
                </c:pt>
                <c:pt idx="48">
                  <c:v>0.12</c:v>
                </c:pt>
                <c:pt idx="49">
                  <c:v>0.18</c:v>
                </c:pt>
                <c:pt idx="50">
                  <c:v>0.12</c:v>
                </c:pt>
                <c:pt idx="51">
                  <c:v>0.12</c:v>
                </c:pt>
                <c:pt idx="52">
                  <c:v>0.12</c:v>
                </c:pt>
                <c:pt idx="53">
                  <c:v>0.12</c:v>
                </c:pt>
                <c:pt idx="54">
                  <c:v>0.22</c:v>
                </c:pt>
                <c:pt idx="55">
                  <c:v>0.18</c:v>
                </c:pt>
                <c:pt idx="56">
                  <c:v>0.28000000000000003</c:v>
                </c:pt>
                <c:pt idx="57">
                  <c:v>0.18</c:v>
                </c:pt>
                <c:pt idx="58">
                  <c:v>0.18</c:v>
                </c:pt>
                <c:pt idx="59">
                  <c:v>0.18</c:v>
                </c:pt>
                <c:pt idx="60">
                  <c:v>0.28000000000000003</c:v>
                </c:pt>
                <c:pt idx="61">
                  <c:v>0.18</c:v>
                </c:pt>
                <c:pt idx="62">
                  <c:v>0.18</c:v>
                </c:pt>
                <c:pt idx="63">
                  <c:v>0.18</c:v>
                </c:pt>
                <c:pt idx="64">
                  <c:v>0.12</c:v>
                </c:pt>
                <c:pt idx="65">
                  <c:v>0.12</c:v>
                </c:pt>
                <c:pt idx="66">
                  <c:v>0.18</c:v>
                </c:pt>
                <c:pt idx="67">
                  <c:v>0.18</c:v>
                </c:pt>
                <c:pt idx="68">
                  <c:v>0.25</c:v>
                </c:pt>
                <c:pt idx="69">
                  <c:v>0.08</c:v>
                </c:pt>
                <c:pt idx="70">
                  <c:v>0.18</c:v>
                </c:pt>
                <c:pt idx="71">
                  <c:v>0.18</c:v>
                </c:pt>
                <c:pt idx="72">
                  <c:v>0.28000000000000003</c:v>
                </c:pt>
                <c:pt idx="73">
                  <c:v>0.18</c:v>
                </c:pt>
                <c:pt idx="74">
                  <c:v>0.12</c:v>
                </c:pt>
                <c:pt idx="75">
                  <c:v>0.18</c:v>
                </c:pt>
                <c:pt idx="76">
                  <c:v>0.12</c:v>
                </c:pt>
                <c:pt idx="77">
                  <c:v>0.08</c:v>
                </c:pt>
                <c:pt idx="78">
                  <c:v>0.18</c:v>
                </c:pt>
                <c:pt idx="79">
                  <c:v>0.12</c:v>
                </c:pt>
                <c:pt idx="80">
                  <c:v>0.18</c:v>
                </c:pt>
                <c:pt idx="81">
                  <c:v>0.18</c:v>
                </c:pt>
                <c:pt idx="82">
                  <c:v>0.18</c:v>
                </c:pt>
                <c:pt idx="83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10-4DD2-BD34-15BF7AE6D0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Adaptive agent</c:v>
                </c:pt>
              </c:strCache>
            </c:strRef>
          </c:tx>
          <c:spPr>
            <a:ln w="19050" cap="flat">
              <a:solidFill>
                <a:srgbClr val="E8A317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Sheet1!$A$2:$A$85</c:f>
              <c:strCache>
                <c:ptCount val="84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  <c:pt idx="67">
                  <c:v>2023-08</c:v>
                </c:pt>
                <c:pt idx="68">
                  <c:v>2023-09</c:v>
                </c:pt>
                <c:pt idx="69">
                  <c:v>2023-10</c:v>
                </c:pt>
                <c:pt idx="70">
                  <c:v>2023-11</c:v>
                </c:pt>
                <c:pt idx="71">
                  <c:v>2023-12</c:v>
                </c:pt>
                <c:pt idx="72">
                  <c:v>2024-01</c:v>
                </c:pt>
                <c:pt idx="73">
                  <c:v>2024-02</c:v>
                </c:pt>
                <c:pt idx="74">
                  <c:v>2024-03</c:v>
                </c:pt>
                <c:pt idx="75">
                  <c:v>2024-04</c:v>
                </c:pt>
                <c:pt idx="76">
                  <c:v>2024-05</c:v>
                </c:pt>
                <c:pt idx="77">
                  <c:v>2024-06</c:v>
                </c:pt>
                <c:pt idx="78">
                  <c:v>2024-07</c:v>
                </c:pt>
                <c:pt idx="79">
                  <c:v>2024-08</c:v>
                </c:pt>
                <c:pt idx="80">
                  <c:v>2024-09</c:v>
                </c:pt>
                <c:pt idx="81">
                  <c:v>2024-10</c:v>
                </c:pt>
                <c:pt idx="82">
                  <c:v>2024-11</c:v>
                </c:pt>
                <c:pt idx="83">
                  <c:v>2024-12</c:v>
                </c:pt>
              </c:strCache>
            </c:strRef>
          </c:cat>
          <c:val>
            <c:numRef>
              <c:f>Sheet1!$D$2:$D$85</c:f>
              <c:numCache>
                <c:formatCode>General</c:formatCode>
                <c:ptCount val="84"/>
                <c:pt idx="0">
                  <c:v>5.8000000000000003E-2</c:v>
                </c:pt>
                <c:pt idx="1">
                  <c:v>5.5E-2</c:v>
                </c:pt>
                <c:pt idx="2">
                  <c:v>5.5E-2</c:v>
                </c:pt>
                <c:pt idx="3">
                  <c:v>6.5000000000000002E-2</c:v>
                </c:pt>
                <c:pt idx="4">
                  <c:v>5.5E-2</c:v>
                </c:pt>
                <c:pt idx="5">
                  <c:v>6.3E-2</c:v>
                </c:pt>
                <c:pt idx="6">
                  <c:v>5.5E-2</c:v>
                </c:pt>
                <c:pt idx="7">
                  <c:v>5.5E-2</c:v>
                </c:pt>
                <c:pt idx="8">
                  <c:v>5.5E-2</c:v>
                </c:pt>
                <c:pt idx="9">
                  <c:v>0.05</c:v>
                </c:pt>
                <c:pt idx="10">
                  <c:v>0.06</c:v>
                </c:pt>
                <c:pt idx="11">
                  <c:v>6.8000000000000005E-2</c:v>
                </c:pt>
                <c:pt idx="12">
                  <c:v>6.5000000000000002E-2</c:v>
                </c:pt>
                <c:pt idx="13">
                  <c:v>6.4000000000000001E-2</c:v>
                </c:pt>
                <c:pt idx="14">
                  <c:v>6.2E-2</c:v>
                </c:pt>
                <c:pt idx="15">
                  <c:v>6.5000000000000002E-2</c:v>
                </c:pt>
                <c:pt idx="16">
                  <c:v>6.5000000000000002E-2</c:v>
                </c:pt>
                <c:pt idx="17">
                  <c:v>5.5E-2</c:v>
                </c:pt>
                <c:pt idx="18">
                  <c:v>5.5E-2</c:v>
                </c:pt>
                <c:pt idx="19">
                  <c:v>6.0499999999999998E-2</c:v>
                </c:pt>
                <c:pt idx="20">
                  <c:v>5.6000000000000001E-2</c:v>
                </c:pt>
                <c:pt idx="21">
                  <c:v>6.0999999999999999E-2</c:v>
                </c:pt>
                <c:pt idx="22">
                  <c:v>6.5000000000000002E-2</c:v>
                </c:pt>
                <c:pt idx="23">
                  <c:v>5.1999999999999998E-2</c:v>
                </c:pt>
                <c:pt idx="24">
                  <c:v>4.4999999999999998E-2</c:v>
                </c:pt>
                <c:pt idx="25">
                  <c:v>5.5E-2</c:v>
                </c:pt>
                <c:pt idx="26">
                  <c:v>5.1999999999999998E-2</c:v>
                </c:pt>
                <c:pt idx="27">
                  <c:v>0.24346532434574816</c:v>
                </c:pt>
                <c:pt idx="28">
                  <c:v>0.30524259465373194</c:v>
                </c:pt>
                <c:pt idx="29">
                  <c:v>0.14178370938216922</c:v>
                </c:pt>
                <c:pt idx="30">
                  <c:v>0.10286581222778497</c:v>
                </c:pt>
                <c:pt idx="31">
                  <c:v>4.4999999999999998E-2</c:v>
                </c:pt>
                <c:pt idx="32">
                  <c:v>5.5E-2</c:v>
                </c:pt>
                <c:pt idx="33">
                  <c:v>6.5000000000000002E-2</c:v>
                </c:pt>
                <c:pt idx="34">
                  <c:v>5.5E-2</c:v>
                </c:pt>
                <c:pt idx="35">
                  <c:v>5.5E-2</c:v>
                </c:pt>
                <c:pt idx="36">
                  <c:v>0.06</c:v>
                </c:pt>
                <c:pt idx="37">
                  <c:v>0.06</c:v>
                </c:pt>
                <c:pt idx="38">
                  <c:v>0.1073987324941089</c:v>
                </c:pt>
                <c:pt idx="39">
                  <c:v>6.2E-2</c:v>
                </c:pt>
                <c:pt idx="40">
                  <c:v>6.5000000000000002E-2</c:v>
                </c:pt>
                <c:pt idx="41">
                  <c:v>0.06</c:v>
                </c:pt>
                <c:pt idx="42">
                  <c:v>6.5000000000000002E-2</c:v>
                </c:pt>
                <c:pt idx="43">
                  <c:v>6.2E-2</c:v>
                </c:pt>
                <c:pt idx="44">
                  <c:v>7.0599999999999996E-2</c:v>
                </c:pt>
                <c:pt idx="45">
                  <c:v>8.5000000000000006E-2</c:v>
                </c:pt>
                <c:pt idx="46">
                  <c:v>6.5000000000000002E-2</c:v>
                </c:pt>
                <c:pt idx="47">
                  <c:v>7.1999999999999995E-2</c:v>
                </c:pt>
                <c:pt idx="48">
                  <c:v>7.1999999999999995E-2</c:v>
                </c:pt>
                <c:pt idx="49">
                  <c:v>7.4999999999999997E-2</c:v>
                </c:pt>
                <c:pt idx="50">
                  <c:v>8.5000000000000006E-2</c:v>
                </c:pt>
                <c:pt idx="51">
                  <c:v>7.1999999999999995E-2</c:v>
                </c:pt>
                <c:pt idx="52">
                  <c:v>7.4999999999999997E-2</c:v>
                </c:pt>
                <c:pt idx="53">
                  <c:v>7.4999999999999997E-2</c:v>
                </c:pt>
                <c:pt idx="54">
                  <c:v>0.115</c:v>
                </c:pt>
                <c:pt idx="55">
                  <c:v>7.1999999999999995E-2</c:v>
                </c:pt>
                <c:pt idx="56">
                  <c:v>0.10824471116493489</c:v>
                </c:pt>
                <c:pt idx="57">
                  <c:v>8.5000000000000006E-2</c:v>
                </c:pt>
                <c:pt idx="58">
                  <c:v>8.5000000000000006E-2</c:v>
                </c:pt>
                <c:pt idx="59">
                  <c:v>8.5000000000000006E-2</c:v>
                </c:pt>
                <c:pt idx="60">
                  <c:v>0.1090271330458525</c:v>
                </c:pt>
                <c:pt idx="61">
                  <c:v>7.1999999999999995E-2</c:v>
                </c:pt>
                <c:pt idx="62">
                  <c:v>7.1999999999999995E-2</c:v>
                </c:pt>
                <c:pt idx="63">
                  <c:v>7.1999999999999995E-2</c:v>
                </c:pt>
                <c:pt idx="64">
                  <c:v>6.5000000000000002E-2</c:v>
                </c:pt>
                <c:pt idx="65">
                  <c:v>6.5000000000000002E-2</c:v>
                </c:pt>
                <c:pt idx="66">
                  <c:v>6.5000000000000002E-2</c:v>
                </c:pt>
                <c:pt idx="67">
                  <c:v>0.06</c:v>
                </c:pt>
                <c:pt idx="68">
                  <c:v>0.06</c:v>
                </c:pt>
                <c:pt idx="69">
                  <c:v>0.06</c:v>
                </c:pt>
                <c:pt idx="70">
                  <c:v>8.5000000000000006E-2</c:v>
                </c:pt>
                <c:pt idx="71">
                  <c:v>6.5000000000000002E-2</c:v>
                </c:pt>
                <c:pt idx="72">
                  <c:v>0.06</c:v>
                </c:pt>
                <c:pt idx="73">
                  <c:v>7.4999999999999997E-2</c:v>
                </c:pt>
                <c:pt idx="74">
                  <c:v>0.06</c:v>
                </c:pt>
                <c:pt idx="75">
                  <c:v>0.06</c:v>
                </c:pt>
                <c:pt idx="76">
                  <c:v>0.06</c:v>
                </c:pt>
                <c:pt idx="77">
                  <c:v>0.06</c:v>
                </c:pt>
                <c:pt idx="78">
                  <c:v>6.5000000000000002E-2</c:v>
                </c:pt>
                <c:pt idx="79">
                  <c:v>6.4000000000000001E-2</c:v>
                </c:pt>
                <c:pt idx="80">
                  <c:v>6.5000000000000002E-2</c:v>
                </c:pt>
                <c:pt idx="81">
                  <c:v>6.5000000000000002E-2</c:v>
                </c:pt>
                <c:pt idx="82">
                  <c:v>0.06</c:v>
                </c:pt>
                <c:pt idx="83">
                  <c:v>6.5000000000000002E-2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B10-4DD2-BD34-15BF7AE6D03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Logistic anchor</c:v>
                </c:pt>
              </c:strCache>
            </c:strRef>
          </c:tx>
          <c:spPr>
            <a:ln w="19050" cap="flat">
              <a:solidFill>
                <a:srgbClr val="0079C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Sheet1!$A$2:$A$85</c:f>
              <c:strCache>
                <c:ptCount val="84"/>
                <c:pt idx="0">
                  <c:v>2018-01</c:v>
                </c:pt>
                <c:pt idx="1">
                  <c:v>2018-02</c:v>
                </c:pt>
                <c:pt idx="2">
                  <c:v>2018-03</c:v>
                </c:pt>
                <c:pt idx="3">
                  <c:v>2018-04</c:v>
                </c:pt>
                <c:pt idx="4">
                  <c:v>2018-05</c:v>
                </c:pt>
                <c:pt idx="5">
                  <c:v>2018-06</c:v>
                </c:pt>
                <c:pt idx="6">
                  <c:v>2018-07</c:v>
                </c:pt>
                <c:pt idx="7">
                  <c:v>2018-08</c:v>
                </c:pt>
                <c:pt idx="8">
                  <c:v>2018-09</c:v>
                </c:pt>
                <c:pt idx="9">
                  <c:v>2018-10</c:v>
                </c:pt>
                <c:pt idx="10">
                  <c:v>2018-11</c:v>
                </c:pt>
                <c:pt idx="11">
                  <c:v>2018-12</c:v>
                </c:pt>
                <c:pt idx="12">
                  <c:v>2019-01</c:v>
                </c:pt>
                <c:pt idx="13">
                  <c:v>2019-02</c:v>
                </c:pt>
                <c:pt idx="14">
                  <c:v>2019-03</c:v>
                </c:pt>
                <c:pt idx="15">
                  <c:v>2019-04</c:v>
                </c:pt>
                <c:pt idx="16">
                  <c:v>2019-05</c:v>
                </c:pt>
                <c:pt idx="17">
                  <c:v>2019-06</c:v>
                </c:pt>
                <c:pt idx="18">
                  <c:v>2019-07</c:v>
                </c:pt>
                <c:pt idx="19">
                  <c:v>2019-08</c:v>
                </c:pt>
                <c:pt idx="20">
                  <c:v>2019-09</c:v>
                </c:pt>
                <c:pt idx="21">
                  <c:v>2019-10</c:v>
                </c:pt>
                <c:pt idx="22">
                  <c:v>2019-11</c:v>
                </c:pt>
                <c:pt idx="23">
                  <c:v>2019-12</c:v>
                </c:pt>
                <c:pt idx="24">
                  <c:v>2020-01</c:v>
                </c:pt>
                <c:pt idx="25">
                  <c:v>2020-02</c:v>
                </c:pt>
                <c:pt idx="26">
                  <c:v>2020-03</c:v>
                </c:pt>
                <c:pt idx="27">
                  <c:v>2020-04</c:v>
                </c:pt>
                <c:pt idx="28">
                  <c:v>2020-05</c:v>
                </c:pt>
                <c:pt idx="29">
                  <c:v>2020-06</c:v>
                </c:pt>
                <c:pt idx="30">
                  <c:v>2020-07</c:v>
                </c:pt>
                <c:pt idx="31">
                  <c:v>2020-08</c:v>
                </c:pt>
                <c:pt idx="32">
                  <c:v>2020-09</c:v>
                </c:pt>
                <c:pt idx="33">
                  <c:v>2020-10</c:v>
                </c:pt>
                <c:pt idx="34">
                  <c:v>2020-11</c:v>
                </c:pt>
                <c:pt idx="35">
                  <c:v>2020-12</c:v>
                </c:pt>
                <c:pt idx="36">
                  <c:v>2021-01</c:v>
                </c:pt>
                <c:pt idx="37">
                  <c:v>2021-02</c:v>
                </c:pt>
                <c:pt idx="38">
                  <c:v>2021-03</c:v>
                </c:pt>
                <c:pt idx="39">
                  <c:v>2021-04</c:v>
                </c:pt>
                <c:pt idx="40">
                  <c:v>2021-05</c:v>
                </c:pt>
                <c:pt idx="41">
                  <c:v>2021-06</c:v>
                </c:pt>
                <c:pt idx="42">
                  <c:v>2021-07</c:v>
                </c:pt>
                <c:pt idx="43">
                  <c:v>2021-08</c:v>
                </c:pt>
                <c:pt idx="44">
                  <c:v>2021-09</c:v>
                </c:pt>
                <c:pt idx="45">
                  <c:v>2021-10</c:v>
                </c:pt>
                <c:pt idx="46">
                  <c:v>2021-11</c:v>
                </c:pt>
                <c:pt idx="47">
                  <c:v>2021-12</c:v>
                </c:pt>
                <c:pt idx="48">
                  <c:v>2022-01</c:v>
                </c:pt>
                <c:pt idx="49">
                  <c:v>2022-02</c:v>
                </c:pt>
                <c:pt idx="50">
                  <c:v>2022-03</c:v>
                </c:pt>
                <c:pt idx="51">
                  <c:v>2022-04</c:v>
                </c:pt>
                <c:pt idx="52">
                  <c:v>2022-05</c:v>
                </c:pt>
                <c:pt idx="53">
                  <c:v>2022-06</c:v>
                </c:pt>
                <c:pt idx="54">
                  <c:v>2022-07</c:v>
                </c:pt>
                <c:pt idx="55">
                  <c:v>2022-08</c:v>
                </c:pt>
                <c:pt idx="56">
                  <c:v>2022-09</c:v>
                </c:pt>
                <c:pt idx="57">
                  <c:v>2022-10</c:v>
                </c:pt>
                <c:pt idx="58">
                  <c:v>2022-11</c:v>
                </c:pt>
                <c:pt idx="59">
                  <c:v>2022-12</c:v>
                </c:pt>
                <c:pt idx="60">
                  <c:v>2023-01</c:v>
                </c:pt>
                <c:pt idx="61">
                  <c:v>2023-02</c:v>
                </c:pt>
                <c:pt idx="62">
                  <c:v>2023-03</c:v>
                </c:pt>
                <c:pt idx="63">
                  <c:v>2023-04</c:v>
                </c:pt>
                <c:pt idx="64">
                  <c:v>2023-05</c:v>
                </c:pt>
                <c:pt idx="65">
                  <c:v>2023-06</c:v>
                </c:pt>
                <c:pt idx="66">
                  <c:v>2023-07</c:v>
                </c:pt>
                <c:pt idx="67">
                  <c:v>2023-08</c:v>
                </c:pt>
                <c:pt idx="68">
                  <c:v>2023-09</c:v>
                </c:pt>
                <c:pt idx="69">
                  <c:v>2023-10</c:v>
                </c:pt>
                <c:pt idx="70">
                  <c:v>2023-11</c:v>
                </c:pt>
                <c:pt idx="71">
                  <c:v>2023-12</c:v>
                </c:pt>
                <c:pt idx="72">
                  <c:v>2024-01</c:v>
                </c:pt>
                <c:pt idx="73">
                  <c:v>2024-02</c:v>
                </c:pt>
                <c:pt idx="74">
                  <c:v>2024-03</c:v>
                </c:pt>
                <c:pt idx="75">
                  <c:v>2024-04</c:v>
                </c:pt>
                <c:pt idx="76">
                  <c:v>2024-05</c:v>
                </c:pt>
                <c:pt idx="77">
                  <c:v>2024-06</c:v>
                </c:pt>
                <c:pt idx="78">
                  <c:v>2024-07</c:v>
                </c:pt>
                <c:pt idx="79">
                  <c:v>2024-08</c:v>
                </c:pt>
                <c:pt idx="80">
                  <c:v>2024-09</c:v>
                </c:pt>
                <c:pt idx="81">
                  <c:v>2024-10</c:v>
                </c:pt>
                <c:pt idx="82">
                  <c:v>2024-11</c:v>
                </c:pt>
                <c:pt idx="83">
                  <c:v>2024-12</c:v>
                </c:pt>
              </c:strCache>
            </c:strRef>
          </c:cat>
          <c:val>
            <c:numRef>
              <c:f>Sheet1!$E$2:$E$85</c:f>
              <c:numCache>
                <c:formatCode>General</c:formatCode>
                <c:ptCount val="84"/>
                <c:pt idx="0">
                  <c:v>5.8279159496649219E-2</c:v>
                </c:pt>
                <c:pt idx="1">
                  <c:v>5.7800214182843479E-2</c:v>
                </c:pt>
                <c:pt idx="2">
                  <c:v>5.796100576794664E-2</c:v>
                </c:pt>
                <c:pt idx="3">
                  <c:v>6.1187908035554274E-2</c:v>
                </c:pt>
                <c:pt idx="4">
                  <c:v>5.9623951120558974E-2</c:v>
                </c:pt>
                <c:pt idx="5">
                  <c:v>6.3366156790774092E-2</c:v>
                </c:pt>
                <c:pt idx="6">
                  <c:v>5.8598132173098255E-2</c:v>
                </c:pt>
                <c:pt idx="7">
                  <c:v>5.7141262799036412E-2</c:v>
                </c:pt>
                <c:pt idx="8">
                  <c:v>5.571478817502238E-2</c:v>
                </c:pt>
                <c:pt idx="9">
                  <c:v>5.5697593735500046E-2</c:v>
                </c:pt>
                <c:pt idx="10">
                  <c:v>6.4535109204042887E-2</c:v>
                </c:pt>
                <c:pt idx="11">
                  <c:v>6.4274572036200239E-2</c:v>
                </c:pt>
                <c:pt idx="12">
                  <c:v>6.8274623696649051E-2</c:v>
                </c:pt>
                <c:pt idx="13">
                  <c:v>6.4308434617579707E-2</c:v>
                </c:pt>
                <c:pt idx="14">
                  <c:v>6.206808432780956E-2</c:v>
                </c:pt>
                <c:pt idx="15">
                  <c:v>5.8074651480429305E-2</c:v>
                </c:pt>
                <c:pt idx="16">
                  <c:v>5.9575988727502575E-2</c:v>
                </c:pt>
                <c:pt idx="17">
                  <c:v>5.7075291243421276E-2</c:v>
                </c:pt>
                <c:pt idx="18">
                  <c:v>5.7547897883679304E-2</c:v>
                </c:pt>
                <c:pt idx="19">
                  <c:v>6.0512640540828749E-2</c:v>
                </c:pt>
                <c:pt idx="20">
                  <c:v>5.603117750706408E-2</c:v>
                </c:pt>
                <c:pt idx="21">
                  <c:v>6.079020629582093E-2</c:v>
                </c:pt>
                <c:pt idx="22">
                  <c:v>5.8847627110694932E-2</c:v>
                </c:pt>
                <c:pt idx="23">
                  <c:v>5.4873262374154061E-2</c:v>
                </c:pt>
                <c:pt idx="24">
                  <c:v>5.2360294792776582E-2</c:v>
                </c:pt>
                <c:pt idx="25">
                  <c:v>5.2140077468077306E-2</c:v>
                </c:pt>
                <c:pt idx="26">
                  <c:v>5.4119858444652474E-2</c:v>
                </c:pt>
                <c:pt idx="27">
                  <c:v>0.21346534350303703</c:v>
                </c:pt>
                <c:pt idx="28">
                  <c:v>0.27524261388634069</c:v>
                </c:pt>
                <c:pt idx="29">
                  <c:v>0.11178368837129353</c:v>
                </c:pt>
                <c:pt idx="30">
                  <c:v>7.286580139005637E-2</c:v>
                </c:pt>
                <c:pt idx="31">
                  <c:v>4.9246372635050668E-2</c:v>
                </c:pt>
                <c:pt idx="32">
                  <c:v>6.0800599756671424E-2</c:v>
                </c:pt>
                <c:pt idx="33">
                  <c:v>6.8070866924424531E-2</c:v>
                </c:pt>
                <c:pt idx="34">
                  <c:v>6.0099049441885793E-2</c:v>
                </c:pt>
                <c:pt idx="35">
                  <c:v>6.1388910139378555E-2</c:v>
                </c:pt>
                <c:pt idx="36">
                  <c:v>6.2722140394325582E-2</c:v>
                </c:pt>
                <c:pt idx="37">
                  <c:v>6.5400225052789016E-2</c:v>
                </c:pt>
                <c:pt idx="38">
                  <c:v>7.7398737840551776E-2</c:v>
                </c:pt>
                <c:pt idx="39">
                  <c:v>6.5364749274422568E-2</c:v>
                </c:pt>
                <c:pt idx="40">
                  <c:v>6.8162089494451933E-2</c:v>
                </c:pt>
                <c:pt idx="41">
                  <c:v>6.5277814941137838E-2</c:v>
                </c:pt>
                <c:pt idx="42">
                  <c:v>6.9180419544692853E-2</c:v>
                </c:pt>
                <c:pt idx="43">
                  <c:v>6.8285873550577983E-2</c:v>
                </c:pt>
                <c:pt idx="44">
                  <c:v>7.0589640815321708E-2</c:v>
                </c:pt>
                <c:pt idx="45">
                  <c:v>7.5845950856553795E-2</c:v>
                </c:pt>
                <c:pt idx="46">
                  <c:v>6.9884738949092001E-2</c:v>
                </c:pt>
                <c:pt idx="47">
                  <c:v>7.5335118316023561E-2</c:v>
                </c:pt>
                <c:pt idx="48">
                  <c:v>7.5129728409157243E-2</c:v>
                </c:pt>
                <c:pt idx="49">
                  <c:v>7.7611969851440907E-2</c:v>
                </c:pt>
                <c:pt idx="50">
                  <c:v>7.8767282493639373E-2</c:v>
                </c:pt>
                <c:pt idx="51">
                  <c:v>7.6091987803569419E-2</c:v>
                </c:pt>
                <c:pt idx="52">
                  <c:v>7.5671595777137918E-2</c:v>
                </c:pt>
                <c:pt idx="53">
                  <c:v>8.0158652221996404E-2</c:v>
                </c:pt>
                <c:pt idx="54">
                  <c:v>8.5833451145816503E-2</c:v>
                </c:pt>
                <c:pt idx="55">
                  <c:v>7.6756815909517023E-2</c:v>
                </c:pt>
                <c:pt idx="56">
                  <c:v>7.8244709504499674E-2</c:v>
                </c:pt>
                <c:pt idx="57">
                  <c:v>7.7533014587532936E-2</c:v>
                </c:pt>
                <c:pt idx="58">
                  <c:v>7.7017734255611578E-2</c:v>
                </c:pt>
                <c:pt idx="59">
                  <c:v>7.245707691959058E-2</c:v>
                </c:pt>
                <c:pt idx="60">
                  <c:v>7.9027132216591425E-2</c:v>
                </c:pt>
                <c:pt idx="61">
                  <c:v>7.4044053122861997E-2</c:v>
                </c:pt>
                <c:pt idx="62">
                  <c:v>7.6771063735097539E-2</c:v>
                </c:pt>
                <c:pt idx="63">
                  <c:v>7.6047811406209392E-2</c:v>
                </c:pt>
                <c:pt idx="64">
                  <c:v>7.281335910451088E-2</c:v>
                </c:pt>
                <c:pt idx="65">
                  <c:v>7.3158041716396241E-2</c:v>
                </c:pt>
                <c:pt idx="66">
                  <c:v>7.2418756722160554E-2</c:v>
                </c:pt>
                <c:pt idx="67">
                  <c:v>6.6865953802678901E-2</c:v>
                </c:pt>
                <c:pt idx="68">
                  <c:v>6.689872709129302E-2</c:v>
                </c:pt>
                <c:pt idx="69">
                  <c:v>6.5950348369792924E-2</c:v>
                </c:pt>
                <c:pt idx="70">
                  <c:v>7.4230025579061318E-2</c:v>
                </c:pt>
                <c:pt idx="71">
                  <c:v>6.8331403456115394E-2</c:v>
                </c:pt>
                <c:pt idx="72">
                  <c:v>6.3391417368238306E-2</c:v>
                </c:pt>
                <c:pt idx="73">
                  <c:v>6.4869328465294335E-2</c:v>
                </c:pt>
                <c:pt idx="74">
                  <c:v>6.1968233343029477E-2</c:v>
                </c:pt>
                <c:pt idx="75">
                  <c:v>6.2456501496347114E-2</c:v>
                </c:pt>
                <c:pt idx="76">
                  <c:v>6.4166325835585791E-2</c:v>
                </c:pt>
                <c:pt idx="77">
                  <c:v>6.3592523918511626E-2</c:v>
                </c:pt>
                <c:pt idx="78">
                  <c:v>6.5155005285117307E-2</c:v>
                </c:pt>
                <c:pt idx="79">
                  <c:v>6.4054229300929452E-2</c:v>
                </c:pt>
                <c:pt idx="80">
                  <c:v>6.3333068832773884E-2</c:v>
                </c:pt>
                <c:pt idx="81">
                  <c:v>6.2220520925719558E-2</c:v>
                </c:pt>
                <c:pt idx="82">
                  <c:v>6.3602763795984368E-2</c:v>
                </c:pt>
                <c:pt idx="83">
                  <c:v>6.3050665262542355E-2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B10-4DD2-BD34-15BF7AE6D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12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5B6B7F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5B6B7F"/>
                    </a:solidFill>
                    <a:latin typeface="Arial"/>
                  </a:rPr>
                  <a:t>Probability of stress in 3 months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Brier</c:v>
                </c:pt>
              </c:strCache>
            </c:strRef>
          </c:tx>
          <c:spPr>
            <a:solidFill>
              <a:srgbClr val="0079C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B3-4E50-9F5F-DE57A8751B43}"/>
              </c:ext>
            </c:extLst>
          </c:dPt>
          <c:dPt>
            <c:idx val="1"/>
            <c:invertIfNegative val="0"/>
            <c:bubble3D val="0"/>
            <c:spPr>
              <a:solidFill>
                <a:srgbClr val="E8A3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B3-4E50-9F5F-DE57A8751B43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Gemini Lite</c:v>
                </c:pt>
                <c:pt idx="1">
                  <c:v>Gemini Advanced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9.01E-2</c:v>
                </c:pt>
                <c:pt idx="1">
                  <c:v>7.0499999999999993E-2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B3-4E50-9F5F-DE57A8751B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"/>
          <c:min val="0"/>
        </c:scaling>
        <c:delete val="0"/>
        <c:axPos val="l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A224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A2240"/>
                </a:solidFill>
                <a:latin typeface="Arial"/>
              </a:rPr>
              <a:t>9 audited strategy changes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Mutations</c:v>
                </c:pt>
              </c:strCache>
            </c:strRef>
          </c:tx>
          <c:spPr>
            <a:solidFill>
              <a:srgbClr val="0079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Record observation</c:v>
                </c:pt>
                <c:pt idx="1">
                  <c:v>Record outcome</c:v>
                </c:pt>
                <c:pt idx="2">
                  <c:v>Open hypothesis</c:v>
                </c:pt>
                <c:pt idx="3">
                  <c:v>Graduate hypothesis</c:v>
                </c:pt>
                <c:pt idx="4">
                  <c:v>Update narrative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9B-4815-A5F0-8DE02EBAFF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t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606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bootcamp learning exercise. The goal was to learn how to design, evaluate and govern an agentic forecaster, not to ship a production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main deliverable is learning. The bounded agent stayed close to the statistical anchor, but rare events and coincident signals meant no model beat the base rate in this backtest.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rate 6.25% (20 of 320 months). No dollar impact is claimed; the value case is earlier, more consistent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8 candidates with both scores reported are shown. 2018-2024 is a historical diagnostic, not a protected holdout.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guardrail limited harm; it did not create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claude/deck/vecto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4320"/>
            <a:ext cx="1097280" cy="4572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0" y="246888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2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29184"/>
            <a:ext cx="2194560" cy="3031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914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EC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</a:t>
            </a:r>
            <a:endParaRPr lang="en-US" sz="950" dirty="0"/>
          </a:p>
        </p:txBody>
      </p:sp>
      <p:sp>
        <p:nvSpPr>
          <p:cNvPr id="8" name="Text 3"/>
          <p:cNvSpPr/>
          <p:nvPr/>
        </p:nvSpPr>
        <p:spPr>
          <a:xfrm>
            <a:off x="548639" y="1280160"/>
            <a:ext cx="79793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U.S. Manufacturing Stress with a Governed Adaptive Agent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548640" y="2743200"/>
            <a:ext cx="77122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combining a statistical anchor, an LLM analyst and auditable agent memory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548640" y="3611880"/>
            <a:ext cx="45720" cy="64008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31520" y="3611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BMO Two</a:t>
            </a:r>
            <a:endParaRPr lang="en-US" sz="1300" dirty="0"/>
          </a:p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BMO TWO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02336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02336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/home/claude/deck/photo_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1508760"/>
            <a:ext cx="1051560" cy="10515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53796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93776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 Attari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93776" y="3246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Manager, Wholesale Credit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121408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2121408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deck/photo_N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2868" y="1508760"/>
            <a:ext cx="1051560" cy="10515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372868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2212848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Nitya Joshi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2212848" y="3246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Manager, Retail IFRS 9 / CECL Model Development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840480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3840480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/home/claude/deck/photo_P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1940" y="1508760"/>
            <a:ext cx="1051560" cy="10515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091940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393192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Pratyush Patodia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931920" y="3246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Manager, IFRS 9 Wholesale Model Development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559552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5559552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/home/claude/deck/photo_V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1012" y="1508760"/>
            <a:ext cx="1051560" cy="105156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811012" y="1508760"/>
            <a:ext cx="1051560" cy="1051560"/>
          </a:xfrm>
          <a:prstGeom prst="ellipse">
            <a:avLst/>
          </a:prstGeom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3"/>
          <p:cNvSpPr/>
          <p:nvPr/>
        </p:nvSpPr>
        <p:spPr>
          <a:xfrm>
            <a:off x="5650992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Vaibhav K Beohar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650992" y="3246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Manager, Machine Learning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7278624" y="1234440"/>
            <a:ext cx="1554480" cy="26974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7278624" y="1234440"/>
            <a:ext cx="155448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530084" y="1508760"/>
            <a:ext cx="1051560" cy="1051560"/>
          </a:xfrm>
          <a:prstGeom prst="ellipse">
            <a:avLst/>
          </a:prstGeom>
          <a:solidFill>
            <a:srgbClr val="E6F2FA"/>
          </a:solidFill>
          <a:ln w="1905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7530084" y="15087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2400" dirty="0"/>
          </a:p>
        </p:txBody>
      </p:sp>
      <p:sp>
        <p:nvSpPr>
          <p:cNvPr id="37" name="Text 29"/>
          <p:cNvSpPr/>
          <p:nvPr/>
        </p:nvSpPr>
        <p:spPr>
          <a:xfrm>
            <a:off x="7370064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Navid Sabbaghi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370064" y="32461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Specialist, 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PAGE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030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926080" y="1097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of U.S. manufacturing stress could support sector-level portfolio monitoring, but stress is rare (6.25% of months since 2000) and hard to anticipate.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1097280" y="1865376"/>
            <a:ext cx="758952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457200" y="2084832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99132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199339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2926080" y="199339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forecasting workbench where an LLM agent starts from a logistic-regression anchor, adds evidence-based reasoning within a ±0.03 bound, and keeps a versioned, auditable strategy memory.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1097280" y="2761488"/>
            <a:ext cx="758952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095244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28895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2926080" y="288950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84 monthly backtest origins (6 stress events), no model beat the historical-frequency baseline (Brier 0.0667). The bounded adaptive agent was close (0.0692); the unbounded LLM analyst was far worse (0.0979).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1097280" y="3657600"/>
            <a:ext cx="758952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57200" y="3877056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91356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97280" y="37856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2926080" y="37856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frozen, prospective evaluation with immutable pre-outcome forecasts and more stress events, and add leading indicators before judging whether agents add skill.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Opportunity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teams monitor sector exposures and want earlier warning when an industry is heading into stress.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stress is rare: 20 of 320 months (2000-2026) met our definition, clustered in 2008-09, 2020 and brief 2021-22 episodes.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models struggle with few events, and analyst judgment is hard to make consistent and auditable.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1148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11480" y="33832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can read many signals, explain their view, and combine statistics with judgment.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governed well, they could scale analyst-style monitoring across sectors with a full audit trail.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months in manufacturing stress, by year (%)</a:t>
            </a:r>
            <a:endParaRPr lang="en-US" sz="10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480560" y="1325880"/>
          <a:ext cx="43434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4572000" y="3886200"/>
            <a:ext cx="4251960" cy="77724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681728" y="391363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definition: </a:t>
            </a:r>
            <a:r>
              <a:rPr lang="en-US" sz="900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 is "stressed" when U.S. manufacturing production (FRED IPMAN) has fallen by 2% or more over the previous 3 months. We forecast this 3 months ahead.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INTENT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Learn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11480" y="10058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was not a production model. We used a real, hard forecasting problem to learn how agentic forecasting systems should be built, tested and governed.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11480" y="164592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94360" y="184708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196138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 LLM agent improve on a statistical forecast?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18872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agents against baselines on identical, leakage-safe backtests.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17720" y="164592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800600" y="184708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1961388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keep an LLM forecaster safe?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394960" y="2331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the agent to a numerical model and bound how far it can move.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11480" y="310896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94360" y="331012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" y="3424428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 agent learn from experience, transparently?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8872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versioned strategy memory with gated updates and an audit log.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617720" y="3108960"/>
            <a:ext cx="4023360" cy="1280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800600" y="3310128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342442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we evaluate rare-event forecasts?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39496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probability scoring, baselines, calibration and regime slices, and be honest about sample size.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11480" y="10058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forecasting workbench that pairs a transparent statistical model with an LLM analyst. The model provides the starting probability; the agent reviews current evidence, explains its view, and can nudge the forecast only within a fixed bound. Every durable change to the agent's strategy is versioned and logged.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1480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11480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94360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251002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Leakage-safe numerical anchor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94360" y="3383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refit at each forecast date, using only data released by that date (FRED and Yahoo Finance).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18688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218688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401568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868" y="2510028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01568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reasoning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401568" y="3383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returns a probability, rationale, supporting and opposing evidence, and a risk direction. Its change to the anchor is capped at ±0.03.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025896" y="2194560"/>
            <a:ext cx="2651760" cy="242316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025896" y="2194560"/>
            <a:ext cx="2651760" cy="54864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208776" y="2395728"/>
            <a:ext cx="457200" cy="457200"/>
          </a:xfrm>
          <a:prstGeom prst="ellipse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25100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08776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adaptive memory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208776" y="33832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tools record observations and hypotheses. A hypothesis needs 3 confirmations from distinct origins before it changes the strategy; every change is hash-linked.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Workbench Fits Together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11480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84632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Leakage-safe data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84632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IPMAN, macro and market series, filtered by release date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1956816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112264" y="1234440"/>
            <a:ext cx="1517904" cy="1097280"/>
          </a:xfrm>
          <a:prstGeom prst="rect">
            <a:avLst/>
          </a:prstGeom>
          <a:solidFill>
            <a:srgbClr val="E6F2FA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185416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anchor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185416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probability (C = 0.001)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657600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813048" y="1234440"/>
            <a:ext cx="1517904" cy="1097280"/>
          </a:xfrm>
          <a:prstGeom prst="rect">
            <a:avLst/>
          </a:prstGeom>
          <a:solidFill>
            <a:srgbClr val="FFF4DC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88620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886200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evidence and proposes a probability with rationale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358384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513832" y="1234440"/>
            <a:ext cx="1517904" cy="1097280"/>
          </a:xfrm>
          <a:prstGeom prst="rect">
            <a:avLst/>
          </a:prstGeom>
          <a:solidFill>
            <a:srgbClr val="E8F3EE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586984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±0.03 guardrail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586984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= anchor + bounded adjustment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7059168" y="1691640"/>
            <a:ext cx="128016" cy="182880"/>
          </a:xfrm>
          <a:prstGeom prst="chevron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214616" y="1234440"/>
            <a:ext cx="1517904" cy="1097280"/>
          </a:xfrm>
          <a:prstGeom prst="rect">
            <a:avLst/>
          </a:prstGeom>
          <a:solidFill>
            <a:srgbClr val="F5F8FB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287768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record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7287768" y="1664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in backtest with Brier score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572000" y="2331720"/>
            <a:ext cx="0" cy="457200"/>
          </a:xfrm>
          <a:prstGeom prst="line">
            <a:avLst/>
          </a:prstGeom>
          <a:noFill/>
          <a:ln w="19050">
            <a:solidFill>
              <a:srgbClr val="2E7D5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2898648" y="2788920"/>
            <a:ext cx="3346704" cy="868680"/>
          </a:xfrm>
          <a:prstGeom prst="rect">
            <a:avLst/>
          </a:prstGeom>
          <a:solidFill>
            <a:srgbClr val="E8F3EE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2990088" y="28346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memory (enabled for the adaptive agent)</a:t>
            </a:r>
            <a:endParaRPr lang="en-US" sz="10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tools save observations and hypotheses to a versioned state that later prompts read. Every change writes a redacted audit event with before/after hashes.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11480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11480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576072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CAN change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76072" y="4178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proposed probability (within ±0.03) and the prompt-level strategy it reads next time.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218688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3218688" y="3794760"/>
            <a:ext cx="54864" cy="91440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33832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CANNOT change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3383280" y="4178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features, target, model parameters or the anchor code. No retraining happens through the agent.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025896" y="3794760"/>
            <a:ext cx="2651760" cy="9144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6025896" y="3794760"/>
            <a:ext cx="54864" cy="9144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6190488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6190488" y="4178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Langfuse traces for each call, plus a local redacted audit log of strategy changes.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MODELS AND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114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Models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13258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monthly inputs from public sources: IPMAN 1/3/6-month changes; Fed funds, 10y-2y spread, CPI, unemployment, jobless claims, VIX, Baa credit spread (FRED); SPY and XLI 3/12-month returns (Yahoo Finance).</a:t>
            </a:r>
            <a:endParaRPr lang="en-US" sz="950" dirty="0"/>
          </a:p>
          <a:p>
            <a:pPr marL="0" indent="0">
              <a:buNone/>
            </a:pPr>
            <a:r>
              <a:rPr lang="en-US" sz="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control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forecast only sees data released by its date. IPMAN uses a conservative 1-month release lag.</a:t>
            </a:r>
            <a:endParaRPr lang="en-US" sz="950" dirty="0"/>
          </a:p>
          <a:p>
            <a:pPr marL="0" indent="0">
              <a:buNone/>
            </a:pPr>
            <a:r>
              <a:rPr lang="en-US" sz="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compared (7)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frequency (baseline), logistic regression, XGBoost, hybrid anchor, LLM analyst agent, hybrid agent and adaptive agent.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&amp; Evaluation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14081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663440" y="1408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74920" y="13716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sweep  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candidates, 3 chronological folds (2000-2017)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63440" y="18653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66344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74920" y="18288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2018-2024 diagnostic  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candidates re-scored on an already-inspected window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23225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66344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074920" y="22860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All-model comparison  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models, 84 monthly origins (2018-2024), 6 stress events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63440" y="27797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66344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74920" y="27432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model choice comparison  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Lite vs Gemini Advanced, read-only, same 84 origins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663440" y="3236976"/>
            <a:ext cx="292608" cy="292608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66344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074920" y="320040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demo  </a:t>
            </a: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hypothesis lifecycle with audited memory changes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663440" y="3749040"/>
            <a:ext cx="4114800" cy="96012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4773168" y="37764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1050" dirty="0"/>
          </a:p>
          <a:p>
            <a:pPr marL="0" indent="0">
              <a:buNone/>
            </a:pPr>
            <a:r>
              <a:rPr lang="en-US" sz="900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score = mean of (forecast probability - actual 0/1)². Lower is better. Brier skill = 1 - model score / baseline score; positive means better than the historical base rate. Plus calibration and regime slices.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Told Us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1148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with the stress label (same month)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320040" y="1280160"/>
          <a:ext cx="4297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411480" y="3611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signs held under bootstrap and leave-one-out checks.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months look very different...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9319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(average)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Stress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spread (pp)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Unemployment (%)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XLI 12m return (%)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ED1C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8"/>
          <p:cNvSpPr/>
          <p:nvPr/>
        </p:nvSpPr>
        <p:spPr>
          <a:xfrm>
            <a:off x="4846320" y="2926080"/>
            <a:ext cx="3931920" cy="1783080"/>
          </a:xfrm>
          <a:prstGeom prst="rect">
            <a:avLst/>
          </a:prstGeom>
          <a:solidFill>
            <a:srgbClr val="FFF4DC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4983480" y="2999232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mostly at the same time, not before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Lagged correlations peak near zero lag: stress signals are largely coincident, not leading. That is the core reason a 3-month-ahead forecast is hard, whichever model is used.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11480" y="3931920"/>
            <a:ext cx="4206240" cy="777240"/>
          </a:xfrm>
          <a:prstGeom prst="rect">
            <a:avLst/>
          </a:prstGeom>
          <a:solidFill>
            <a:srgbClr val="E6F2FA"/>
          </a:solidFill>
          <a:ln w="12700">
            <a:solidFill>
              <a:srgbClr val="E6F2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521208" y="39593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 no missing values in any series. Market series start in 1998-99, so the modelling window is 2000 onward (320 months, 20 stress months).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SWEEP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1: The Tuning Winner Did Not Hold Up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005840"/>
          <a:ext cx="51206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5715000" y="1051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→ last</a:t>
            </a:r>
            <a:endParaRPr lang="en-US" sz="2800" dirty="0"/>
          </a:p>
        </p:txBody>
      </p:sp>
      <p:sp>
        <p:nvSpPr>
          <p:cNvPr id="11" name="Text 6"/>
          <p:cNvSpPr/>
          <p:nvPr/>
        </p:nvSpPr>
        <p:spPr>
          <a:xfrm>
            <a:off x="5715000" y="1581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C=1.0 ranked first in tuning (+28.8% skill) and last on 2018-2024 (-554% skill).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 stress events in the tuning period, all in one fold (2006-2011).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XGBoost setting beat the baseline in tuning; extra regularization did not help.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with rare events, tuning can reward confident models that happen to fit one episode.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we froze conservative choices (logistic C=0.001, regularized XGBoost) and did not retune on 2018-2024.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ALL-MODEL COMPARISON, 84 ORIGINS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2: No Model Beat the Base Rate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00584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4114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Brier score, lower is better. 2018-01 to 2024-12 origins; 6 stress events (7.1%).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57150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-3.8%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5715000" y="1536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agent skill vs baseline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3152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-46.8%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7315200" y="15361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LLM analyst skill vs baseline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5715000" y="219456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rate won because events were rare and signals were coincident.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tied to the anchor stayed close to it; the free-standing analyst was much worse.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Blending logistic with XGBoost never helped: the best of 11 tested weights was 100% logistic.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events is too few to call any gap statistically meaningful.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VS OUTCOMES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3: Models Reacted Too Late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960120"/>
          <a:ext cx="55778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411480" y="4526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X-axis: forecast origin (monthly, 2018-2024). Grey line = actual outcome at the forecast date.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6035040" y="1005840"/>
            <a:ext cx="2788920" cy="17830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035040" y="1005840"/>
            <a:ext cx="54864" cy="1783080"/>
          </a:xfrm>
          <a:prstGeom prst="rect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199632" y="1097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6 stress events were missed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199632" y="1389888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origins that preceded actual stress, the anchor and adaptive agent forecast 0.05-0.11 and the analyst 0.08-0.28.</a:t>
            </a:r>
            <a:endParaRPr lang="en-US" sz="930" dirty="0"/>
          </a:p>
        </p:txBody>
      </p:sp>
      <p:sp>
        <p:nvSpPr>
          <p:cNvPr id="15" name="Shape 10"/>
          <p:cNvSpPr/>
          <p:nvPr/>
        </p:nvSpPr>
        <p:spPr>
          <a:xfrm>
            <a:off x="6035040" y="2926080"/>
            <a:ext cx="2788920" cy="17830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035040" y="2926080"/>
            <a:ext cx="54864" cy="178308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199632" y="3017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Peaks came too late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99632" y="3310128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 spiked at Apr-Jun 2020 origins, after the COVID drop was visible. By the forecast date production was recovering, so the outcome was 0.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AGENT ADJUSTMENTS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4: The Guardrail Did Its Job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pic>
        <p:nvPicPr>
          <p:cNvPr id="9" name="Image 2" descr="/mnt/user-data/uploads/adaptive_agent_adjust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960120"/>
            <a:ext cx="5120640" cy="29878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1480" y="4023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logistic anchor vs adaptive agent final probability. Bottom: applied adjustment per origin (capped at ±0.03).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5715000" y="960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0.094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5715000" y="14904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agent proposal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766560" y="960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0.071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6766560" y="14904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anchor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818120" y="9601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0.072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7818120" y="14904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final forecast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715000" y="210312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adaptive agent ran with memory updates enabled.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wanted higher probabilities on average; the ±0.03 cap kept the final close to the anchor.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84 proposals hit the cap, including Apr-Jun 2020 when the agent proposed up to 0.85.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adjustments up, 58 down. Bounded agents: -3.8% to -6.0% skill vs -46.8% for the unbounded analyst.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MODEL CHOICE (READ-ONLY)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5: A Stronger LLM Overreacted Less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005840"/>
          <a:ext cx="32918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41148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Brier, 84 paired origins, memory updates disabled. Separate experiment from the 7-model comparison.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3886200" y="1005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 came from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325880"/>
          <a:ext cx="2743200" cy="1024128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2020-06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676656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ED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~98%</a:t>
            </a:r>
            <a:endParaRPr lang="en-US" sz="2800" dirty="0"/>
          </a:p>
        </p:txBody>
      </p:sp>
      <p:sp>
        <p:nvSpPr>
          <p:cNvPr id="14" name="Text 8"/>
          <p:cNvSpPr/>
          <p:nvPr/>
        </p:nvSpPr>
        <p:spPr>
          <a:xfrm>
            <a:off x="6766560" y="1810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0.0197 Brier gap came from these 3 post-COVID origins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86200" y="2514600"/>
            <a:ext cx="4892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Advanced was not better at spotting stress: both models missed all 6 events.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more willing to expect a rebound after the April 2020 trough.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directions agreed on only 50 of 84 origins (59.5%).</a:t>
            </a:r>
            <a:endParaRPr lang="en-US" sz="93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Rationales sometimes quoted inconsistent inputs for the same month (e.g., 3-month IPMAN -4.05% vs -0.04% in Aug 2018); root cause still to be investigated.</a:t>
            </a:r>
            <a:endParaRPr lang="en-US" sz="9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DEMONSTRATION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6: Auditable Memory Works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822960" y="105156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29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32588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11480" y="15727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11480" y="1801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hyp-001 + initial evidence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240280" y="105156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2402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274320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828800" y="15727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828800" y="1801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observations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0" y="1051560"/>
            <a:ext cx="457200" cy="45720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6576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16052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246120" y="15727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246120" y="1801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distinct origins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074920" y="1051560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0749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57784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663440" y="15727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663440" y="1801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≥3 confirmations?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6492240" y="10515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4922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995160" y="1280160"/>
            <a:ext cx="914400" cy="0"/>
          </a:xfrm>
          <a:prstGeom prst="line">
            <a:avLst/>
          </a:prstGeom>
          <a:noFill/>
          <a:ln w="19050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080760" y="15727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080760" y="1801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correction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7909560" y="1051560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79095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7498080" y="15727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498080" y="1801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narrative</a:t>
            </a:r>
            <a:endParaRPr lang="en-US" sz="8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20040" y="2331720"/>
          <a:ext cx="40233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9" name="Shape 34"/>
          <p:cNvSpPr/>
          <p:nvPr/>
        </p:nvSpPr>
        <p:spPr>
          <a:xfrm>
            <a:off x="4526280" y="2377440"/>
            <a:ext cx="2103120" cy="228600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5"/>
          <p:cNvSpPr/>
          <p:nvPr/>
        </p:nvSpPr>
        <p:spPr>
          <a:xfrm>
            <a:off x="4526280" y="2377440"/>
            <a:ext cx="54864" cy="22860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/>
          <p:nvPr/>
        </p:nvSpPr>
        <p:spPr>
          <a:xfrm>
            <a:off x="469087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shows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4690872" y="2761488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change has a timestamp, tool, version and before/after hash. The gate stopped a hypothesis from becoming guidance until 3 confirmations were recorded. Example outcome: adjust anchor 0.066 to 0.060.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How We Addressed Them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411480" y="105156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48640" y="1216152"/>
            <a:ext cx="411480" cy="4114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1319022"/>
            <a:ext cx="205740" cy="2057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 (6 in the 84-origin backtest)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1097280" y="1463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against a base-rate benchmark, used chronological folds, and avoided claims of statistical significance.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617720" y="105156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754880" y="121615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319022"/>
            <a:ext cx="205740" cy="2057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1143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Look-ahead leakage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303520" y="14630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every input by release date; applied a 1-month lag to IPMAN; audited what was visible at the latest origin.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411480" y="228600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48640" y="245059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" y="2553462"/>
            <a:ext cx="205740" cy="2057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during tuning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097280" y="2697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 conservative settings and did not retune on the inspected 2018-2024 window.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617720" y="228600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754880" y="2450592"/>
            <a:ext cx="411480" cy="411480"/>
          </a:xfrm>
          <a:prstGeom prst="ellipse">
            <a:avLst/>
          </a:prstGeom>
          <a:solidFill>
            <a:srgbClr val="ED1C24"/>
          </a:solidFill>
          <a:ln w="12700">
            <a:solidFill>
              <a:srgbClr val="ED1C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553462"/>
            <a:ext cx="205740" cy="2057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2377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overconfidence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303520" y="26974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agents to the logistic model and capped adjustments at ±0.03.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11480" y="352044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548640" y="368503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" y="3787902"/>
            <a:ext cx="205740" cy="2057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9728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explanations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1097280" y="3931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rationale and evidence per forecast; flagged inconsistent quoted values for follow-up.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4617720" y="3520440"/>
            <a:ext cx="4069080" cy="1097280"/>
          </a:xfrm>
          <a:prstGeom prst="rect">
            <a:avLst/>
          </a:prstGeom>
          <a:solidFill>
            <a:srgbClr val="F5F8FB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4754880" y="3685032"/>
            <a:ext cx="411480" cy="411480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3787902"/>
            <a:ext cx="205740" cy="20574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0352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and cost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5303520" y="3931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agent runs; report builds make zero LLM calls and reproduce every chart from saved tables.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TAKE AWAY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11480" y="10241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1143000" y="10241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base rate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840480" y="102412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rare events, a simple historical frequency is a demanding benchmark. Beat it before adding complexity.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143000" y="168249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1480" y="17556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1143000" y="1755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and bound the LLM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840480" y="17556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Unbounded LLM probabilities overreacted. A statistical anchor plus a small cap kept agents close to sound forecasts.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143000" y="241401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11480" y="24871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1143000" y="24871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matter more than models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840480" y="248716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inputs describe stress as it happens. Better leading indicators will matter more than a bigger model.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43000" y="314553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11480" y="32186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1143000" y="32186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can come first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840480" y="32186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memory, gated updates and audit logs can be built before accuracy is proven and make later evaluation credible.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1143000" y="3877056"/>
            <a:ext cx="763524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11480" y="39502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1143000" y="39502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careful with explanations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3840480" y="39502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rationales are useful for review but are not causal evidence and can quote inconsistent numbers.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9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 &amp; Opportunities</a:t>
            </a:r>
            <a:endParaRPr lang="en-US" sz="2200" dirty="0"/>
          </a:p>
        </p:txBody>
      </p:sp>
      <p:pic>
        <p:nvPicPr>
          <p:cNvPr id="5" name="Image 0" descr="/home/claude/deck/vector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55448"/>
            <a:ext cx="457200" cy="365760"/>
          </a:xfrm>
          <a:prstGeom prst="rect">
            <a:avLst/>
          </a:prstGeom>
        </p:spPr>
      </p:pic>
      <p:pic>
        <p:nvPicPr>
          <p:cNvPr id="6" name="Image 1" descr="/home/claude/deck/bm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28600"/>
            <a:ext cx="1554480" cy="2147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Forecasting Bootcamp  |  Learning proof of concept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1148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to mature the proof of concept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11480" y="144475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11480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14400" y="13716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test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the configuration and log immutable forecasts before outcomes are known.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226771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1148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1440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test of memory</a:t>
            </a:r>
          </a:p>
          <a:p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memory-less hybrid agent with an adaptive agent going forward, with memory updated only from forecasts that have actually resolved, and over enough stress events to tell them apart.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309067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1148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14400" y="3017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indicators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forward-looking inputs (for example, new orders or surveys) and longer histories to capture more events.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11480" y="3913632"/>
            <a:ext cx="347472" cy="347472"/>
          </a:xfrm>
          <a:prstGeom prst="ellipse">
            <a:avLst/>
          </a:prstGeom>
          <a:solidFill>
            <a:srgbClr val="0079C1"/>
          </a:solidFill>
          <a:ln w="12700">
            <a:solidFill>
              <a:srgbClr val="0079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11480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1440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explanation quality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inconsistent quoted inputs and validate rationales against the actual feature snapshot.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800600" y="1005840"/>
            <a:ext cx="4023360" cy="37033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value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029200" y="155448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pattern for sector early-warning monitoring: statistical anchor + bounded agent + audit trail.</a:t>
            </a:r>
            <a:endParaRPr lang="en-US" sz="10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Analyst-style commentary at scale, with every forecast traceable to evidence and model version.</a:t>
            </a:r>
            <a:endParaRPr lang="en-US" sz="10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governance template for agentic models in regulated settings: what the agent may change, how changes are gated, and how they are logged.</a:t>
            </a:r>
            <a:endParaRPr lang="en-US" sz="10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workbench can be pointed at other industries or targets.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thanks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3383280" cy="3803904"/>
          </a:xfrm>
          <a:prstGeom prst="rect">
            <a:avLst/>
          </a:prstGeom>
        </p:spPr>
      </p:pic>
      <p:pic>
        <p:nvPicPr>
          <p:cNvPr id="3" name="Image 1" descr="/home/claude/deck/vecto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4320"/>
            <a:ext cx="1097280" cy="457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0" y="246888"/>
            <a:ext cx="2468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/home/claude/deck/bmo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29184"/>
            <a:ext cx="2194560" cy="30314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389120" y="1554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7" name="Text 2"/>
          <p:cNvSpPr/>
          <p:nvPr/>
        </p:nvSpPr>
        <p:spPr>
          <a:xfrm>
            <a:off x="438912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BMO Two  |  Agentic AI Forecasting Bootcamp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4389120" y="2743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C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feedback welcome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4389120" y="3383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Mina Attari  ·  Nitya Joshi  ·  Pratyush Patodia  ·  Vaibhav K Beohar  ·  Navid Sabbaghi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2601</Words>
  <Application>Microsoft Office PowerPoint</Application>
  <PresentationFormat>On-screen Show (16:9)</PresentationFormat>
  <Paragraphs>330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U.S. Manufacturing Stress with a Governed Adaptive Agent</dc:title>
  <dc:subject>PptxGenJS Presentation</dc:subject>
  <dc:creator>Attari, Mina</dc:creator>
  <cp:lastModifiedBy>Attari, Mina</cp:lastModifiedBy>
  <cp:revision>3</cp:revision>
  <dcterms:created xsi:type="dcterms:W3CDTF">2026-10-06T19:59:51Z</dcterms:created>
  <dcterms:modified xsi:type="dcterms:W3CDTF">2026-10-06T20:28:10Z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f00cb3-7a5d-4674-b157-6d675423df49_Enabled">
    <vt:lpwstr>true</vt:lpwstr>
  </property>
  <property fmtid="{D5CDD505-2E9C-101B-9397-08002B2CF9AE}" pid="3" name="MSIP_Label_0cf00cb3-7a5d-4674-b157-6d675423df49_SetDate">
    <vt:lpwstr>2026-10-06T20:27:25Z</vt:lpwstr>
  </property>
  <property fmtid="{D5CDD505-2E9C-101B-9397-08002B2CF9AE}" pid="4" name="MSIP_Label_0cf00cb3-7a5d-4674-b157-6d675423df49_Method">
    <vt:lpwstr>Standard</vt:lpwstr>
  </property>
  <property fmtid="{D5CDD505-2E9C-101B-9397-08002B2CF9AE}" pid="5" name="MSIP_Label_0cf00cb3-7a5d-4674-b157-6d675423df49_Name">
    <vt:lpwstr>Internal</vt:lpwstr>
  </property>
  <property fmtid="{D5CDD505-2E9C-101B-9397-08002B2CF9AE}" pid="6" name="MSIP_Label_0cf00cb3-7a5d-4674-b157-6d675423df49_SiteId">
    <vt:lpwstr>ece76e02-a02b-4c4a-906d-98a34c5ce07a</vt:lpwstr>
  </property>
  <property fmtid="{D5CDD505-2E9C-101B-9397-08002B2CF9AE}" pid="7" name="MSIP_Label_0cf00cb3-7a5d-4674-b157-6d675423df49_ActionId">
    <vt:lpwstr>5a66fc49-cd86-442f-a476-680a862d4916</vt:lpwstr>
  </property>
  <property fmtid="{D5CDD505-2E9C-101B-9397-08002B2CF9AE}" pid="8" name="MSIP_Label_0cf00cb3-7a5d-4674-b157-6d675423df49_ContentBits">
    <vt:lpwstr>0</vt:lpwstr>
  </property>
  <property fmtid="{D5CDD505-2E9C-101B-9397-08002B2CF9AE}" pid="9" name="MSIP_Label_0cf00cb3-7a5d-4674-b157-6d675423df49_Tag">
    <vt:lpwstr>10, 3, 0, 1</vt:lpwstr>
  </property>
</Properties>
</file>